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imes New Roman MT Bold" charset="1" panose="02030802070405020303"/>
      <p:regular r:id="rId17"/>
    </p:embeddedFont>
    <p:embeddedFont>
      <p:font typeface="Times New Roman MT" charset="1" panose="02030502070405020303"/>
      <p:regular r:id="rId18"/>
    </p:embeddedFont>
    <p:embeddedFont>
      <p:font typeface="Verdana Pro" charset="1" panose="020B0604030504040204"/>
      <p:regular r:id="rId19"/>
    </p:embeddedFont>
    <p:embeddedFont>
      <p:font typeface="Verdana Pro Bold" charset="1" panose="020B0804030504040204"/>
      <p:regular r:id="rId20"/>
    </p:embeddedFont>
    <p:embeddedFont>
      <p:font typeface="Arimo" charset="1" panose="020B06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212056" y="2343152"/>
            <a:ext cx="15930564" cy="178593"/>
            <a:chOff x="0" y="0"/>
            <a:chExt cx="21240752" cy="238124"/>
          </a:xfrm>
        </p:grpSpPr>
        <p:sp>
          <p:nvSpPr>
            <p:cNvPr name="Freeform 4" id="4"/>
            <p:cNvSpPr/>
            <p:nvPr/>
          </p:nvSpPr>
          <p:spPr>
            <a:xfrm flipH="false" flipV="false" rot="0">
              <a:off x="9525" y="9525"/>
              <a:ext cx="12414758" cy="219075"/>
            </a:xfrm>
            <a:custGeom>
              <a:avLst/>
              <a:gdLst/>
              <a:ahLst/>
              <a:cxnLst/>
              <a:rect r="r" b="b" t="t" l="l"/>
              <a:pathLst>
                <a:path h="219075" w="12414758">
                  <a:moveTo>
                    <a:pt x="0" y="0"/>
                  </a:moveTo>
                  <a:lnTo>
                    <a:pt x="12414758" y="0"/>
                  </a:lnTo>
                  <a:lnTo>
                    <a:pt x="12414758" y="219075"/>
                  </a:lnTo>
                  <a:lnTo>
                    <a:pt x="0" y="219075"/>
                  </a:lnTo>
                  <a:lnTo>
                    <a:pt x="0" y="0"/>
                  </a:lnTo>
                  <a:close/>
                </a:path>
              </a:pathLst>
            </a:custGeom>
            <a:solidFill>
              <a:srgbClr val="CC0000"/>
            </a:solidFill>
          </p:spPr>
        </p:sp>
        <p:sp>
          <p:nvSpPr>
            <p:cNvPr name="Freeform 5" id="5"/>
            <p:cNvSpPr/>
            <p:nvPr/>
          </p:nvSpPr>
          <p:spPr>
            <a:xfrm flipH="false" flipV="false" rot="0">
              <a:off x="9525" y="9525"/>
              <a:ext cx="21221700" cy="0"/>
            </a:xfrm>
            <a:custGeom>
              <a:avLst/>
              <a:gdLst/>
              <a:ahLst/>
              <a:cxnLst/>
              <a:rect r="r" b="b" t="t" l="l"/>
              <a:pathLst>
                <a:path h="0" w="21221700">
                  <a:moveTo>
                    <a:pt x="0" y="0"/>
                  </a:moveTo>
                  <a:lnTo>
                    <a:pt x="21221700" y="0"/>
                  </a:lnTo>
                </a:path>
              </a:pathLst>
            </a:custGeom>
            <a:solidFill>
              <a:srgbClr val="CC0000"/>
            </a:solidFill>
          </p:spPr>
        </p:sp>
        <p:sp>
          <p:nvSpPr>
            <p:cNvPr name="Freeform 6" id="6"/>
            <p:cNvSpPr/>
            <p:nvPr/>
          </p:nvSpPr>
          <p:spPr>
            <a:xfrm flipH="false" flipV="false" rot="0">
              <a:off x="0" y="0"/>
              <a:ext cx="12433808" cy="238125"/>
            </a:xfrm>
            <a:custGeom>
              <a:avLst/>
              <a:gdLst/>
              <a:ahLst/>
              <a:cxnLst/>
              <a:rect r="r" b="b" t="t" l="l"/>
              <a:pathLst>
                <a:path h="238125" w="12433808">
                  <a:moveTo>
                    <a:pt x="9525" y="0"/>
                  </a:moveTo>
                  <a:lnTo>
                    <a:pt x="12424283" y="0"/>
                  </a:lnTo>
                  <a:cubicBezTo>
                    <a:pt x="12429489" y="0"/>
                    <a:pt x="12433808" y="4318"/>
                    <a:pt x="12433808" y="9525"/>
                  </a:cubicBezTo>
                  <a:lnTo>
                    <a:pt x="12433808" y="228600"/>
                  </a:lnTo>
                  <a:cubicBezTo>
                    <a:pt x="12433808" y="233807"/>
                    <a:pt x="12429489" y="238125"/>
                    <a:pt x="12424283"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424283" y="219075"/>
                  </a:lnTo>
                  <a:lnTo>
                    <a:pt x="12424283" y="228600"/>
                  </a:lnTo>
                  <a:lnTo>
                    <a:pt x="12414758" y="228600"/>
                  </a:lnTo>
                  <a:lnTo>
                    <a:pt x="12414758" y="9525"/>
                  </a:lnTo>
                  <a:lnTo>
                    <a:pt x="12424283" y="9525"/>
                  </a:lnTo>
                  <a:lnTo>
                    <a:pt x="12424283" y="19050"/>
                  </a:lnTo>
                  <a:lnTo>
                    <a:pt x="9525" y="19050"/>
                  </a:lnTo>
                  <a:close/>
                </a:path>
              </a:pathLst>
            </a:custGeom>
            <a:solidFill>
              <a:srgbClr val="CC0000"/>
            </a:solidFill>
          </p:spPr>
        </p:sp>
        <p:sp>
          <p:nvSpPr>
            <p:cNvPr name="Freeform 7" id="7"/>
            <p:cNvSpPr/>
            <p:nvPr/>
          </p:nvSpPr>
          <p:spPr>
            <a:xfrm flipH="false" flipV="false" rot="0">
              <a:off x="9525" y="0"/>
              <a:ext cx="21221700" cy="19050"/>
            </a:xfrm>
            <a:custGeom>
              <a:avLst/>
              <a:gdLst/>
              <a:ahLst/>
              <a:cxnLst/>
              <a:rect r="r" b="b" t="t" l="l"/>
              <a:pathLst>
                <a:path h="19050" w="21221700">
                  <a:moveTo>
                    <a:pt x="0" y="0"/>
                  </a:moveTo>
                  <a:lnTo>
                    <a:pt x="21221700" y="0"/>
                  </a:lnTo>
                  <a:lnTo>
                    <a:pt x="21221700" y="19050"/>
                  </a:lnTo>
                  <a:lnTo>
                    <a:pt x="0" y="19050"/>
                  </a:lnTo>
                  <a:close/>
                </a:path>
              </a:pathLst>
            </a:custGeom>
            <a:solidFill>
              <a:srgbClr val="CC0000"/>
            </a:solidFill>
          </p:spPr>
        </p:sp>
      </p:grpSp>
      <p:grpSp>
        <p:nvGrpSpPr>
          <p:cNvPr name="Group 8" id="8"/>
          <p:cNvGrpSpPr/>
          <p:nvPr/>
        </p:nvGrpSpPr>
        <p:grpSpPr>
          <a:xfrm rot="0">
            <a:off x="1216819" y="9255919"/>
            <a:ext cx="15854362" cy="4762"/>
            <a:chOff x="0" y="0"/>
            <a:chExt cx="21139150" cy="6350"/>
          </a:xfrm>
        </p:grpSpPr>
        <p:sp>
          <p:nvSpPr>
            <p:cNvPr name="Freeform 9" id="9"/>
            <p:cNvSpPr/>
            <p:nvPr/>
          </p:nvSpPr>
          <p:spPr>
            <a:xfrm flipH="false" flipV="false" rot="0">
              <a:off x="3175" y="0"/>
              <a:ext cx="21132800" cy="6350"/>
            </a:xfrm>
            <a:custGeom>
              <a:avLst/>
              <a:gdLst/>
              <a:ahLst/>
              <a:cxnLst/>
              <a:rect r="r" b="b" t="t" l="l"/>
              <a:pathLst>
                <a:path h="6350" w="21132800">
                  <a:moveTo>
                    <a:pt x="0" y="0"/>
                  </a:moveTo>
                  <a:lnTo>
                    <a:pt x="21132800" y="0"/>
                  </a:lnTo>
                  <a:lnTo>
                    <a:pt x="21132800" y="6350"/>
                  </a:lnTo>
                  <a:lnTo>
                    <a:pt x="0" y="6350"/>
                  </a:lnTo>
                  <a:close/>
                </a:path>
              </a:pathLst>
            </a:custGeom>
            <a:solidFill>
              <a:srgbClr val="CC0000"/>
            </a:solidFill>
          </p:spPr>
        </p:sp>
      </p:grpSp>
      <p:grpSp>
        <p:nvGrpSpPr>
          <p:cNvPr name="Group 10" id="10"/>
          <p:cNvGrpSpPr/>
          <p:nvPr/>
        </p:nvGrpSpPr>
        <p:grpSpPr>
          <a:xfrm rot="0">
            <a:off x="1364456" y="3583781"/>
            <a:ext cx="15559088" cy="178595"/>
            <a:chOff x="0" y="0"/>
            <a:chExt cx="20745450" cy="238126"/>
          </a:xfrm>
        </p:grpSpPr>
        <p:sp>
          <p:nvSpPr>
            <p:cNvPr name="Freeform 11" id="11"/>
            <p:cNvSpPr/>
            <p:nvPr/>
          </p:nvSpPr>
          <p:spPr>
            <a:xfrm flipH="false" flipV="false" rot="0">
              <a:off x="9525" y="9525"/>
              <a:ext cx="12808966" cy="219075"/>
            </a:xfrm>
            <a:custGeom>
              <a:avLst/>
              <a:gdLst/>
              <a:ahLst/>
              <a:cxnLst/>
              <a:rect r="r" b="b" t="t" l="l"/>
              <a:pathLst>
                <a:path h="219075" w="12808966">
                  <a:moveTo>
                    <a:pt x="0" y="0"/>
                  </a:moveTo>
                  <a:lnTo>
                    <a:pt x="12808966" y="0"/>
                  </a:lnTo>
                  <a:lnTo>
                    <a:pt x="12808966" y="219075"/>
                  </a:lnTo>
                  <a:lnTo>
                    <a:pt x="0" y="219075"/>
                  </a:lnTo>
                  <a:lnTo>
                    <a:pt x="0" y="0"/>
                  </a:lnTo>
                  <a:close/>
                </a:path>
              </a:pathLst>
            </a:custGeom>
            <a:solidFill>
              <a:srgbClr val="CC0000"/>
            </a:solidFill>
          </p:spPr>
        </p:sp>
        <p:sp>
          <p:nvSpPr>
            <p:cNvPr name="Freeform 12" id="12"/>
            <p:cNvSpPr/>
            <p:nvPr/>
          </p:nvSpPr>
          <p:spPr>
            <a:xfrm flipH="false" flipV="false" rot="0">
              <a:off x="9525" y="9525"/>
              <a:ext cx="20726400" cy="0"/>
            </a:xfrm>
            <a:custGeom>
              <a:avLst/>
              <a:gdLst/>
              <a:ahLst/>
              <a:cxnLst/>
              <a:rect r="r" b="b" t="t" l="l"/>
              <a:pathLst>
                <a:path h="0" w="20726400">
                  <a:moveTo>
                    <a:pt x="0" y="0"/>
                  </a:moveTo>
                  <a:lnTo>
                    <a:pt x="20726400" y="0"/>
                  </a:lnTo>
                </a:path>
              </a:pathLst>
            </a:custGeom>
            <a:solidFill>
              <a:srgbClr val="CC0000"/>
            </a:solidFill>
          </p:spPr>
        </p:sp>
        <p:sp>
          <p:nvSpPr>
            <p:cNvPr name="Freeform 13" id="13"/>
            <p:cNvSpPr/>
            <p:nvPr/>
          </p:nvSpPr>
          <p:spPr>
            <a:xfrm flipH="false" flipV="false" rot="0">
              <a:off x="0" y="0"/>
              <a:ext cx="12828016" cy="238125"/>
            </a:xfrm>
            <a:custGeom>
              <a:avLst/>
              <a:gdLst/>
              <a:ahLst/>
              <a:cxnLst/>
              <a:rect r="r" b="b" t="t" l="l"/>
              <a:pathLst>
                <a:path h="238125" w="12828016">
                  <a:moveTo>
                    <a:pt x="9525" y="0"/>
                  </a:moveTo>
                  <a:lnTo>
                    <a:pt x="12818491" y="0"/>
                  </a:lnTo>
                  <a:cubicBezTo>
                    <a:pt x="12823698" y="0"/>
                    <a:pt x="12828016" y="4318"/>
                    <a:pt x="12828016" y="9525"/>
                  </a:cubicBezTo>
                  <a:lnTo>
                    <a:pt x="12828016" y="228600"/>
                  </a:lnTo>
                  <a:cubicBezTo>
                    <a:pt x="12828016" y="233807"/>
                    <a:pt x="12823698" y="238125"/>
                    <a:pt x="12818491"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818491" y="219075"/>
                  </a:lnTo>
                  <a:lnTo>
                    <a:pt x="12818491" y="228600"/>
                  </a:lnTo>
                  <a:lnTo>
                    <a:pt x="12808966" y="228600"/>
                  </a:lnTo>
                  <a:lnTo>
                    <a:pt x="12808966" y="9525"/>
                  </a:lnTo>
                  <a:lnTo>
                    <a:pt x="12818491" y="9525"/>
                  </a:lnTo>
                  <a:lnTo>
                    <a:pt x="12818491" y="19050"/>
                  </a:lnTo>
                  <a:lnTo>
                    <a:pt x="9525" y="19050"/>
                  </a:lnTo>
                  <a:close/>
                </a:path>
              </a:pathLst>
            </a:custGeom>
            <a:solidFill>
              <a:srgbClr val="CC0000"/>
            </a:solidFill>
          </p:spPr>
        </p:sp>
        <p:sp>
          <p:nvSpPr>
            <p:cNvPr name="Freeform 14" id="14"/>
            <p:cNvSpPr/>
            <p:nvPr/>
          </p:nvSpPr>
          <p:spPr>
            <a:xfrm flipH="false" flipV="false" rot="0">
              <a:off x="9525" y="0"/>
              <a:ext cx="20726400" cy="19050"/>
            </a:xfrm>
            <a:custGeom>
              <a:avLst/>
              <a:gdLst/>
              <a:ahLst/>
              <a:cxnLst/>
              <a:rect r="r" b="b" t="t" l="l"/>
              <a:pathLst>
                <a:path h="19050" w="20726400">
                  <a:moveTo>
                    <a:pt x="0" y="0"/>
                  </a:moveTo>
                  <a:lnTo>
                    <a:pt x="20726400" y="0"/>
                  </a:lnTo>
                  <a:lnTo>
                    <a:pt x="20726400" y="19050"/>
                  </a:lnTo>
                  <a:lnTo>
                    <a:pt x="0" y="19050"/>
                  </a:lnTo>
                  <a:close/>
                </a:path>
              </a:pathLst>
            </a:custGeom>
            <a:solidFill>
              <a:srgbClr val="CC0000"/>
            </a:solidFill>
          </p:spPr>
        </p:sp>
      </p:grpSp>
      <p:grpSp>
        <p:nvGrpSpPr>
          <p:cNvPr name="Group 15" id="15"/>
          <p:cNvGrpSpPr>
            <a:grpSpLocks noChangeAspect="true"/>
          </p:cNvGrpSpPr>
          <p:nvPr/>
        </p:nvGrpSpPr>
        <p:grpSpPr>
          <a:xfrm rot="0">
            <a:off x="16667236" y="96115"/>
            <a:ext cx="1500188" cy="1714500"/>
            <a:chOff x="0" y="0"/>
            <a:chExt cx="2000250" cy="2286000"/>
          </a:xfrm>
        </p:grpSpPr>
        <p:sp>
          <p:nvSpPr>
            <p:cNvPr name="Freeform 16" id="16"/>
            <p:cNvSpPr/>
            <p:nvPr/>
          </p:nvSpPr>
          <p:spPr>
            <a:xfrm flipH="false" flipV="false" rot="0">
              <a:off x="0" y="0"/>
              <a:ext cx="2000250" cy="2286000"/>
            </a:xfrm>
            <a:custGeom>
              <a:avLst/>
              <a:gdLst/>
              <a:ahLst/>
              <a:cxnLst/>
              <a:rect r="r" b="b" t="t" l="l"/>
              <a:pathLst>
                <a:path h="2286000" w="2000250">
                  <a:moveTo>
                    <a:pt x="0" y="0"/>
                  </a:moveTo>
                  <a:lnTo>
                    <a:pt x="2000250" y="0"/>
                  </a:lnTo>
                  <a:lnTo>
                    <a:pt x="2000250" y="2286000"/>
                  </a:lnTo>
                  <a:lnTo>
                    <a:pt x="0" y="2286000"/>
                  </a:lnTo>
                  <a:lnTo>
                    <a:pt x="0" y="0"/>
                  </a:lnTo>
                  <a:close/>
                </a:path>
              </a:pathLst>
            </a:custGeom>
            <a:blipFill>
              <a:blip r:embed="rId3"/>
              <a:stretch>
                <a:fillRect l="0" t="0" r="0" b="0"/>
              </a:stretch>
            </a:blipFill>
          </p:spPr>
        </p:sp>
      </p:grpSp>
      <p:grpSp>
        <p:nvGrpSpPr>
          <p:cNvPr name="Group 17" id="17"/>
          <p:cNvGrpSpPr/>
          <p:nvPr/>
        </p:nvGrpSpPr>
        <p:grpSpPr>
          <a:xfrm rot="0">
            <a:off x="1184568" y="3795927"/>
            <a:ext cx="15773400" cy="1988345"/>
            <a:chOff x="0" y="0"/>
            <a:chExt cx="21031200" cy="2651126"/>
          </a:xfrm>
        </p:grpSpPr>
        <p:sp>
          <p:nvSpPr>
            <p:cNvPr name="Freeform 18" id="18"/>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solidFill>
              <a:srgbClr val="000000">
                <a:alpha val="0"/>
              </a:srgbClr>
            </a:solidFill>
          </p:spPr>
        </p:sp>
        <p:sp>
          <p:nvSpPr>
            <p:cNvPr name="TextBox 19" id="19"/>
            <p:cNvSpPr txBox="true"/>
            <p:nvPr/>
          </p:nvSpPr>
          <p:spPr>
            <a:xfrm>
              <a:off x="0" y="-47625"/>
              <a:ext cx="21031200" cy="2698751"/>
            </a:xfrm>
            <a:prstGeom prst="rect">
              <a:avLst/>
            </a:prstGeom>
          </p:spPr>
          <p:txBody>
            <a:bodyPr anchor="ctr" rtlCol="false" tIns="0" lIns="0" bIns="0" rIns="0"/>
            <a:lstStyle/>
            <a:p>
              <a:pPr algn="ctr">
                <a:lnSpc>
                  <a:spcPts val="6480"/>
                </a:lnSpc>
              </a:pPr>
              <a:r>
                <a:rPr lang="en-US" sz="6000" b="true">
                  <a:solidFill>
                    <a:srgbClr val="7030A0"/>
                  </a:solidFill>
                  <a:latin typeface="Times New Roman MT Bold"/>
                  <a:ea typeface="Times New Roman MT Bold"/>
                  <a:cs typeface="Times New Roman MT Bold"/>
                  <a:sym typeface="Times New Roman MT Bold"/>
                </a:rPr>
                <a:t>MK SENTINEL IOT BASED FIRE AND GAS PREDICTION SYSTEM </a:t>
              </a:r>
            </a:p>
          </p:txBody>
        </p:sp>
      </p:grpSp>
      <p:sp>
        <p:nvSpPr>
          <p:cNvPr name="TextBox 20" id="20"/>
          <p:cNvSpPr txBox="true"/>
          <p:nvPr/>
        </p:nvSpPr>
        <p:spPr>
          <a:xfrm rot="0">
            <a:off x="1535774" y="7745373"/>
            <a:ext cx="6103051" cy="1162050"/>
          </a:xfrm>
          <a:prstGeom prst="rect">
            <a:avLst/>
          </a:prstGeom>
        </p:spPr>
        <p:txBody>
          <a:bodyPr anchor="t" rtlCol="false" tIns="0" lIns="0" bIns="0" rIns="0">
            <a:spAutoFit/>
          </a:bodyPr>
          <a:lstStyle/>
          <a:p>
            <a:pPr algn="l">
              <a:lnSpc>
                <a:spcPts val="4320"/>
              </a:lnSpc>
            </a:pPr>
            <a:r>
              <a:rPr lang="en-US" sz="3600" b="true">
                <a:solidFill>
                  <a:srgbClr val="FF0000"/>
                </a:solidFill>
                <a:latin typeface="Times New Roman MT Bold"/>
                <a:ea typeface="Times New Roman MT Bold"/>
                <a:cs typeface="Times New Roman MT Bold"/>
                <a:sym typeface="Times New Roman MT Bold"/>
              </a:rPr>
              <a:t>PONMANI S </a:t>
            </a:r>
          </a:p>
          <a:p>
            <a:pPr algn="l">
              <a:lnSpc>
                <a:spcPts val="4320"/>
              </a:lnSpc>
            </a:pPr>
            <a:r>
              <a:rPr lang="en-US" sz="3600" b="true">
                <a:solidFill>
                  <a:srgbClr val="FF0000"/>
                </a:solidFill>
                <a:latin typeface="Times New Roman MT Bold"/>
                <a:ea typeface="Times New Roman MT Bold"/>
                <a:cs typeface="Times New Roman MT Bold"/>
                <a:sym typeface="Times New Roman MT Bold"/>
              </a:rPr>
              <a:t>Assisstant PROFESSOR (SG)</a:t>
            </a:r>
          </a:p>
        </p:txBody>
      </p:sp>
      <p:sp>
        <p:nvSpPr>
          <p:cNvPr name="TextBox 21" id="21"/>
          <p:cNvSpPr txBox="true"/>
          <p:nvPr/>
        </p:nvSpPr>
        <p:spPr>
          <a:xfrm rot="0">
            <a:off x="10920938" y="7779425"/>
            <a:ext cx="6496392" cy="1162050"/>
          </a:xfrm>
          <a:prstGeom prst="rect">
            <a:avLst/>
          </a:prstGeom>
        </p:spPr>
        <p:txBody>
          <a:bodyPr anchor="t" rtlCol="false" tIns="0" lIns="0" bIns="0" rIns="0">
            <a:spAutoFit/>
          </a:bodyPr>
          <a:lstStyle/>
          <a:p>
            <a:pPr algn="l">
              <a:lnSpc>
                <a:spcPts val="4320"/>
              </a:lnSpc>
            </a:pPr>
            <a:r>
              <a:rPr lang="en-US" sz="3600" b="true">
                <a:solidFill>
                  <a:srgbClr val="FF0000"/>
                </a:solidFill>
                <a:latin typeface="Times New Roman MT Bold"/>
                <a:ea typeface="Times New Roman MT Bold"/>
                <a:cs typeface="Times New Roman MT Bold"/>
                <a:sym typeface="Times New Roman MT Bold"/>
              </a:rPr>
              <a:t>220701117 KAMAL J R</a:t>
            </a:r>
          </a:p>
          <a:p>
            <a:pPr algn="l">
              <a:lnSpc>
                <a:spcPts val="4320"/>
              </a:lnSpc>
            </a:pPr>
            <a:r>
              <a:rPr lang="en-US" sz="3600" b="true">
                <a:solidFill>
                  <a:srgbClr val="FF0000"/>
                </a:solidFill>
                <a:latin typeface="Times New Roman MT Bold"/>
                <a:ea typeface="Times New Roman MT Bold"/>
                <a:cs typeface="Times New Roman MT Bold"/>
                <a:sym typeface="Times New Roman MT Bold"/>
              </a:rPr>
              <a:t>220701524 MANOJ KUMAR J</a:t>
            </a:r>
          </a:p>
        </p:txBody>
      </p:sp>
      <p:grpSp>
        <p:nvGrpSpPr>
          <p:cNvPr name="Group 22" id="22"/>
          <p:cNvGrpSpPr/>
          <p:nvPr/>
        </p:nvGrpSpPr>
        <p:grpSpPr>
          <a:xfrm rot="0">
            <a:off x="1257300" y="2616993"/>
            <a:ext cx="15773400" cy="1083685"/>
            <a:chOff x="0" y="0"/>
            <a:chExt cx="21031200" cy="1444914"/>
          </a:xfrm>
        </p:grpSpPr>
        <p:sp>
          <p:nvSpPr>
            <p:cNvPr name="Freeform 23" id="23"/>
            <p:cNvSpPr/>
            <p:nvPr/>
          </p:nvSpPr>
          <p:spPr>
            <a:xfrm flipH="false" flipV="false" rot="0">
              <a:off x="0" y="0"/>
              <a:ext cx="21031200" cy="1444914"/>
            </a:xfrm>
            <a:custGeom>
              <a:avLst/>
              <a:gdLst/>
              <a:ahLst/>
              <a:cxnLst/>
              <a:rect r="r" b="b" t="t" l="l"/>
              <a:pathLst>
                <a:path h="1444914" w="21031200">
                  <a:moveTo>
                    <a:pt x="0" y="0"/>
                  </a:moveTo>
                  <a:lnTo>
                    <a:pt x="21031200" y="0"/>
                  </a:lnTo>
                  <a:lnTo>
                    <a:pt x="21031200" y="1444914"/>
                  </a:lnTo>
                  <a:lnTo>
                    <a:pt x="0" y="1444914"/>
                  </a:lnTo>
                  <a:close/>
                </a:path>
              </a:pathLst>
            </a:custGeom>
            <a:solidFill>
              <a:srgbClr val="000000">
                <a:alpha val="0"/>
              </a:srgbClr>
            </a:solidFill>
          </p:spPr>
        </p:sp>
        <p:sp>
          <p:nvSpPr>
            <p:cNvPr name="TextBox 24" id="24"/>
            <p:cNvSpPr txBox="true"/>
            <p:nvPr/>
          </p:nvSpPr>
          <p:spPr>
            <a:xfrm>
              <a:off x="0" y="-38100"/>
              <a:ext cx="21031200" cy="1483014"/>
            </a:xfrm>
            <a:prstGeom prst="rect">
              <a:avLst/>
            </a:prstGeom>
          </p:spPr>
          <p:txBody>
            <a:bodyPr anchor="ctr" rtlCol="false" tIns="0" lIns="0" bIns="0" rIns="0"/>
            <a:lstStyle/>
            <a:p>
              <a:pPr algn="ctr">
                <a:lnSpc>
                  <a:spcPts val="4195"/>
                </a:lnSpc>
              </a:pPr>
              <a:r>
                <a:rPr lang="en-US" sz="3885" b="true">
                  <a:solidFill>
                    <a:srgbClr val="002060"/>
                  </a:solidFill>
                  <a:latin typeface="Times New Roman MT Bold"/>
                  <a:ea typeface="Times New Roman MT Bold"/>
                  <a:cs typeface="Times New Roman MT Bold"/>
                  <a:sym typeface="Times New Roman MT Bold"/>
                </a:rPr>
                <a:t>DEPARTMENT OF COMPUTER SCIENCE AND ENGINEERING</a:t>
              </a:r>
            </a:p>
          </p:txBody>
        </p:sp>
      </p:grpSp>
      <p:grpSp>
        <p:nvGrpSpPr>
          <p:cNvPr name="Group 25" id="25"/>
          <p:cNvGrpSpPr>
            <a:grpSpLocks noChangeAspect="true"/>
          </p:cNvGrpSpPr>
          <p:nvPr/>
        </p:nvGrpSpPr>
        <p:grpSpPr>
          <a:xfrm rot="0">
            <a:off x="0" y="96115"/>
            <a:ext cx="5635137" cy="1820292"/>
            <a:chOff x="0" y="0"/>
            <a:chExt cx="7513516" cy="2427056"/>
          </a:xfrm>
        </p:grpSpPr>
        <p:sp>
          <p:nvSpPr>
            <p:cNvPr name="Freeform 26" id="26" descr="Index of /image"/>
            <p:cNvSpPr/>
            <p:nvPr/>
          </p:nvSpPr>
          <p:spPr>
            <a:xfrm flipH="false" flipV="false" rot="0">
              <a:off x="0" y="0"/>
              <a:ext cx="7513574" cy="2427097"/>
            </a:xfrm>
            <a:custGeom>
              <a:avLst/>
              <a:gdLst/>
              <a:ahLst/>
              <a:cxnLst/>
              <a:rect r="r" b="b" t="t" l="l"/>
              <a:pathLst>
                <a:path h="2427097" w="7513574">
                  <a:moveTo>
                    <a:pt x="0" y="0"/>
                  </a:moveTo>
                  <a:lnTo>
                    <a:pt x="7513574" y="0"/>
                  </a:lnTo>
                  <a:lnTo>
                    <a:pt x="7513574" y="2427097"/>
                  </a:lnTo>
                  <a:lnTo>
                    <a:pt x="0" y="2427097"/>
                  </a:lnTo>
                  <a:lnTo>
                    <a:pt x="0" y="0"/>
                  </a:lnTo>
                  <a:close/>
                </a:path>
              </a:pathLst>
            </a:custGeom>
            <a:blipFill>
              <a:blip r:embed="rId4"/>
              <a:stretch>
                <a:fillRect l="0" t="0" r="-4" b="1"/>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212056" y="2343152"/>
            <a:ext cx="15930564" cy="178593"/>
            <a:chOff x="0" y="0"/>
            <a:chExt cx="21240752" cy="238124"/>
          </a:xfrm>
        </p:grpSpPr>
        <p:sp>
          <p:nvSpPr>
            <p:cNvPr name="Freeform 4" id="4"/>
            <p:cNvSpPr/>
            <p:nvPr/>
          </p:nvSpPr>
          <p:spPr>
            <a:xfrm flipH="false" flipV="false" rot="0">
              <a:off x="9525" y="9525"/>
              <a:ext cx="12414758" cy="219075"/>
            </a:xfrm>
            <a:custGeom>
              <a:avLst/>
              <a:gdLst/>
              <a:ahLst/>
              <a:cxnLst/>
              <a:rect r="r" b="b" t="t" l="l"/>
              <a:pathLst>
                <a:path h="219075" w="12414758">
                  <a:moveTo>
                    <a:pt x="0" y="0"/>
                  </a:moveTo>
                  <a:lnTo>
                    <a:pt x="12414758" y="0"/>
                  </a:lnTo>
                  <a:lnTo>
                    <a:pt x="12414758" y="219075"/>
                  </a:lnTo>
                  <a:lnTo>
                    <a:pt x="0" y="219075"/>
                  </a:lnTo>
                  <a:lnTo>
                    <a:pt x="0" y="0"/>
                  </a:lnTo>
                  <a:close/>
                </a:path>
              </a:pathLst>
            </a:custGeom>
            <a:solidFill>
              <a:srgbClr val="CC0000"/>
            </a:solidFill>
          </p:spPr>
        </p:sp>
        <p:sp>
          <p:nvSpPr>
            <p:cNvPr name="Freeform 5" id="5"/>
            <p:cNvSpPr/>
            <p:nvPr/>
          </p:nvSpPr>
          <p:spPr>
            <a:xfrm flipH="false" flipV="false" rot="0">
              <a:off x="9525" y="9525"/>
              <a:ext cx="21221700" cy="0"/>
            </a:xfrm>
            <a:custGeom>
              <a:avLst/>
              <a:gdLst/>
              <a:ahLst/>
              <a:cxnLst/>
              <a:rect r="r" b="b" t="t" l="l"/>
              <a:pathLst>
                <a:path h="0" w="21221700">
                  <a:moveTo>
                    <a:pt x="0" y="0"/>
                  </a:moveTo>
                  <a:lnTo>
                    <a:pt x="21221700" y="0"/>
                  </a:lnTo>
                </a:path>
              </a:pathLst>
            </a:custGeom>
            <a:solidFill>
              <a:srgbClr val="CC0000"/>
            </a:solidFill>
          </p:spPr>
        </p:sp>
        <p:sp>
          <p:nvSpPr>
            <p:cNvPr name="Freeform 6" id="6"/>
            <p:cNvSpPr/>
            <p:nvPr/>
          </p:nvSpPr>
          <p:spPr>
            <a:xfrm flipH="false" flipV="false" rot="0">
              <a:off x="0" y="0"/>
              <a:ext cx="12433808" cy="238125"/>
            </a:xfrm>
            <a:custGeom>
              <a:avLst/>
              <a:gdLst/>
              <a:ahLst/>
              <a:cxnLst/>
              <a:rect r="r" b="b" t="t" l="l"/>
              <a:pathLst>
                <a:path h="238125" w="12433808">
                  <a:moveTo>
                    <a:pt x="9525" y="0"/>
                  </a:moveTo>
                  <a:lnTo>
                    <a:pt x="12424283" y="0"/>
                  </a:lnTo>
                  <a:cubicBezTo>
                    <a:pt x="12429489" y="0"/>
                    <a:pt x="12433808" y="4318"/>
                    <a:pt x="12433808" y="9525"/>
                  </a:cubicBezTo>
                  <a:lnTo>
                    <a:pt x="12433808" y="228600"/>
                  </a:lnTo>
                  <a:cubicBezTo>
                    <a:pt x="12433808" y="233807"/>
                    <a:pt x="12429489" y="238125"/>
                    <a:pt x="12424283"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424283" y="219075"/>
                  </a:lnTo>
                  <a:lnTo>
                    <a:pt x="12424283" y="228600"/>
                  </a:lnTo>
                  <a:lnTo>
                    <a:pt x="12414758" y="228600"/>
                  </a:lnTo>
                  <a:lnTo>
                    <a:pt x="12414758" y="9525"/>
                  </a:lnTo>
                  <a:lnTo>
                    <a:pt x="12424283" y="9525"/>
                  </a:lnTo>
                  <a:lnTo>
                    <a:pt x="12424283" y="19050"/>
                  </a:lnTo>
                  <a:lnTo>
                    <a:pt x="9525" y="19050"/>
                  </a:lnTo>
                  <a:close/>
                </a:path>
              </a:pathLst>
            </a:custGeom>
            <a:solidFill>
              <a:srgbClr val="CC0000"/>
            </a:solidFill>
          </p:spPr>
        </p:sp>
        <p:sp>
          <p:nvSpPr>
            <p:cNvPr name="Freeform 7" id="7"/>
            <p:cNvSpPr/>
            <p:nvPr/>
          </p:nvSpPr>
          <p:spPr>
            <a:xfrm flipH="false" flipV="false" rot="0">
              <a:off x="9525" y="0"/>
              <a:ext cx="21221700" cy="19050"/>
            </a:xfrm>
            <a:custGeom>
              <a:avLst/>
              <a:gdLst/>
              <a:ahLst/>
              <a:cxnLst/>
              <a:rect r="r" b="b" t="t" l="l"/>
              <a:pathLst>
                <a:path h="19050" w="21221700">
                  <a:moveTo>
                    <a:pt x="0" y="0"/>
                  </a:moveTo>
                  <a:lnTo>
                    <a:pt x="21221700" y="0"/>
                  </a:lnTo>
                  <a:lnTo>
                    <a:pt x="21221700" y="19050"/>
                  </a:lnTo>
                  <a:lnTo>
                    <a:pt x="0" y="19050"/>
                  </a:lnTo>
                  <a:close/>
                </a:path>
              </a:pathLst>
            </a:custGeom>
            <a:solidFill>
              <a:srgbClr val="CC0000"/>
            </a:solidFill>
          </p:spPr>
        </p:sp>
      </p:grpSp>
      <p:grpSp>
        <p:nvGrpSpPr>
          <p:cNvPr name="Group 8" id="8"/>
          <p:cNvGrpSpPr/>
          <p:nvPr/>
        </p:nvGrpSpPr>
        <p:grpSpPr>
          <a:xfrm rot="0">
            <a:off x="1216819" y="9255919"/>
            <a:ext cx="15854362" cy="4762"/>
            <a:chOff x="0" y="0"/>
            <a:chExt cx="21139150" cy="6350"/>
          </a:xfrm>
        </p:grpSpPr>
        <p:sp>
          <p:nvSpPr>
            <p:cNvPr name="Freeform 9" id="9"/>
            <p:cNvSpPr/>
            <p:nvPr/>
          </p:nvSpPr>
          <p:spPr>
            <a:xfrm flipH="false" flipV="false" rot="0">
              <a:off x="3175" y="0"/>
              <a:ext cx="21132800" cy="6350"/>
            </a:xfrm>
            <a:custGeom>
              <a:avLst/>
              <a:gdLst/>
              <a:ahLst/>
              <a:cxnLst/>
              <a:rect r="r" b="b" t="t" l="l"/>
              <a:pathLst>
                <a:path h="6350" w="21132800">
                  <a:moveTo>
                    <a:pt x="0" y="0"/>
                  </a:moveTo>
                  <a:lnTo>
                    <a:pt x="21132800" y="0"/>
                  </a:lnTo>
                  <a:lnTo>
                    <a:pt x="21132800" y="6350"/>
                  </a:lnTo>
                  <a:lnTo>
                    <a:pt x="0" y="6350"/>
                  </a:lnTo>
                  <a:close/>
                </a:path>
              </a:pathLst>
            </a:custGeom>
            <a:solidFill>
              <a:srgbClr val="CC0000"/>
            </a:solidFill>
          </p:spPr>
        </p:sp>
      </p:grpSp>
      <p:grpSp>
        <p:nvGrpSpPr>
          <p:cNvPr name="Group 10" id="10"/>
          <p:cNvGrpSpPr/>
          <p:nvPr/>
        </p:nvGrpSpPr>
        <p:grpSpPr>
          <a:xfrm rot="0">
            <a:off x="1149350" y="457202"/>
            <a:ext cx="16002000" cy="1824038"/>
            <a:chOff x="0" y="0"/>
            <a:chExt cx="21336000" cy="2432050"/>
          </a:xfrm>
        </p:grpSpPr>
        <p:sp>
          <p:nvSpPr>
            <p:cNvPr name="Freeform 11" id="11"/>
            <p:cNvSpPr/>
            <p:nvPr/>
          </p:nvSpPr>
          <p:spPr>
            <a:xfrm flipH="false" flipV="false" rot="0">
              <a:off x="0" y="0"/>
              <a:ext cx="21336000" cy="2432050"/>
            </a:xfrm>
            <a:custGeom>
              <a:avLst/>
              <a:gdLst/>
              <a:ahLst/>
              <a:cxnLst/>
              <a:rect r="r" b="b" t="t" l="l"/>
              <a:pathLst>
                <a:path h="2432050" w="21336000">
                  <a:moveTo>
                    <a:pt x="0" y="0"/>
                  </a:moveTo>
                  <a:lnTo>
                    <a:pt x="21336000" y="0"/>
                  </a:lnTo>
                  <a:lnTo>
                    <a:pt x="21336000" y="2432050"/>
                  </a:lnTo>
                  <a:lnTo>
                    <a:pt x="0" y="2432050"/>
                  </a:lnTo>
                  <a:close/>
                </a:path>
              </a:pathLst>
            </a:custGeom>
            <a:solidFill>
              <a:srgbClr val="000000">
                <a:alpha val="0"/>
              </a:srgbClr>
            </a:solidFill>
          </p:spPr>
        </p:sp>
        <p:sp>
          <p:nvSpPr>
            <p:cNvPr name="TextBox 12" id="12"/>
            <p:cNvSpPr txBox="true"/>
            <p:nvPr/>
          </p:nvSpPr>
          <p:spPr>
            <a:xfrm>
              <a:off x="0" y="-95250"/>
              <a:ext cx="21336000" cy="2527300"/>
            </a:xfrm>
            <a:prstGeom prst="rect">
              <a:avLst/>
            </a:prstGeom>
          </p:spPr>
          <p:txBody>
            <a:bodyPr anchor="b" rtlCol="false" tIns="0" lIns="0" bIns="0" rIns="0"/>
            <a:lstStyle/>
            <a:p>
              <a:pPr algn="ctr">
                <a:lnSpc>
                  <a:spcPts val="5759"/>
                </a:lnSpc>
              </a:pPr>
              <a:r>
                <a:rPr lang="en-US" sz="4800" b="true">
                  <a:solidFill>
                    <a:srgbClr val="FF0000"/>
                  </a:solidFill>
                  <a:latin typeface="Times New Roman MT Bold"/>
                  <a:ea typeface="Times New Roman MT Bold"/>
                  <a:cs typeface="Times New Roman MT Bold"/>
                  <a:sym typeface="Times New Roman MT Bold"/>
                </a:rPr>
                <a:t>INTRODUCTION</a:t>
              </a:r>
            </a:p>
          </p:txBody>
        </p:sp>
      </p:grpSp>
      <p:sp>
        <p:nvSpPr>
          <p:cNvPr name="TextBox 13" id="13"/>
          <p:cNvSpPr txBox="true"/>
          <p:nvPr/>
        </p:nvSpPr>
        <p:spPr>
          <a:xfrm rot="0">
            <a:off x="1149350" y="2777729"/>
            <a:ext cx="15819120" cy="5924550"/>
          </a:xfrm>
          <a:prstGeom prst="rect">
            <a:avLst/>
          </a:prstGeom>
        </p:spPr>
        <p:txBody>
          <a:bodyPr anchor="t" rtlCol="false" tIns="0" lIns="0" bIns="0" rIns="0">
            <a:spAutoFit/>
          </a:bodyPr>
          <a:lstStyle/>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Smart multi-sens</a:t>
            </a:r>
            <a:r>
              <a:rPr lang="en-US" sz="2799">
                <a:solidFill>
                  <a:srgbClr val="000000"/>
                </a:solidFill>
                <a:latin typeface="Times New Roman MT"/>
                <a:ea typeface="Times New Roman MT"/>
                <a:cs typeface="Times New Roman MT"/>
                <a:sym typeface="Times New Roman MT"/>
              </a:rPr>
              <a:t>or sensing: MQ‑2 (gas/smoke), MQ‑6 (LPG), YG1006 (flame), DHT11 (temperature) on Arduino + ESP8266 for real time home ready monitoring.</a:t>
            </a:r>
          </a:p>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Predictive safety with ML: a light Decision Tree foresees danger from context and patterns, reducing false alarms and enhancing early warnings.</a:t>
            </a:r>
          </a:p>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Rapid, concise alerts: React web dashboard with color‑coded statuses, live gauges, and trend history for immediate situational awareness.</a:t>
            </a:r>
          </a:p>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Local-first reliability: Operates on home Wi‑Fi with resilient offline behavior; vital alerts continue even if the network goes down.</a:t>
            </a:r>
          </a:p>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Multilingual and accessible: UI and alerts customized for Indian homes, with regional language support for inclusivity.</a:t>
            </a:r>
          </a:p>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Open, affordable, extensible: Low BOM cost, open source stack, modular hardware, and code for simple customization and scalability.</a:t>
            </a:r>
          </a:p>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Future ready roadmap: Built to incorporate automated interventions (e.g., certified gas shutoff) and cloud analytics when needed.</a:t>
            </a:r>
          </a:p>
        </p:txBody>
      </p:sp>
      <p:sp>
        <p:nvSpPr>
          <p:cNvPr name="TextBox 14" id="14"/>
          <p:cNvSpPr txBox="true"/>
          <p:nvPr/>
        </p:nvSpPr>
        <p:spPr>
          <a:xfrm rot="0">
            <a:off x="1310640" y="9413557"/>
            <a:ext cx="3779520" cy="266700"/>
          </a:xfrm>
          <a:prstGeom prst="rect">
            <a:avLst/>
          </a:prstGeom>
        </p:spPr>
        <p:txBody>
          <a:bodyPr anchor="t" rtlCol="false" tIns="0" lIns="0" bIns="0" rIns="0">
            <a:spAutoFit/>
          </a:bodyPr>
          <a:lstStyle/>
          <a:p>
            <a:pPr algn="l">
              <a:lnSpc>
                <a:spcPts val="2160"/>
              </a:lnSpc>
            </a:pPr>
            <a:r>
              <a:rPr lang="en-US" sz="1800">
                <a:solidFill>
                  <a:srgbClr val="000000"/>
                </a:solidFill>
                <a:latin typeface="Verdana Pro"/>
                <a:ea typeface="Verdana Pro"/>
                <a:cs typeface="Verdana Pro"/>
                <a:sym typeface="Verdana Pro"/>
              </a:rPr>
              <a:t>Second </a:t>
            </a:r>
            <a:r>
              <a:rPr lang="en-US" sz="1800">
                <a:solidFill>
                  <a:srgbClr val="000000"/>
                </a:solidFill>
                <a:latin typeface="Verdana Pro"/>
                <a:ea typeface="Verdana Pro"/>
                <a:cs typeface="Verdana Pro"/>
                <a:sym typeface="Verdana Pro"/>
              </a:rPr>
              <a:t>Review</a:t>
            </a:r>
          </a:p>
        </p:txBody>
      </p:sp>
      <p:sp>
        <p:nvSpPr>
          <p:cNvPr name="TextBox 15" id="15"/>
          <p:cNvSpPr txBox="true"/>
          <p:nvPr/>
        </p:nvSpPr>
        <p:spPr>
          <a:xfrm rot="0">
            <a:off x="6339840" y="9413557"/>
            <a:ext cx="5608320" cy="622935"/>
          </a:xfrm>
          <a:prstGeom prst="rect">
            <a:avLst/>
          </a:prstGeom>
        </p:spPr>
        <p:txBody>
          <a:bodyPr anchor="t" rtlCol="false" tIns="0" lIns="0" bIns="0" rIns="0">
            <a:spAutoFit/>
          </a:bodyPr>
          <a:lstStyle/>
          <a:p>
            <a:pPr algn="ctr">
              <a:lnSpc>
                <a:spcPts val="2160"/>
              </a:lnSpc>
            </a:pPr>
            <a:r>
              <a:rPr lang="en-US" sz="1800">
                <a:solidFill>
                  <a:srgbClr val="000000"/>
                </a:solidFill>
                <a:latin typeface="Verdana Pro"/>
                <a:ea typeface="Verdana Pro"/>
                <a:cs typeface="Verdana Pro"/>
                <a:sym typeface="Verdana Pro"/>
              </a:rPr>
              <a:t>Department of Computer Science and Engineering</a:t>
            </a:r>
          </a:p>
        </p:txBody>
      </p:sp>
      <p:sp>
        <p:nvSpPr>
          <p:cNvPr name="TextBox 16" id="16"/>
          <p:cNvSpPr txBox="true"/>
          <p:nvPr/>
        </p:nvSpPr>
        <p:spPr>
          <a:xfrm rot="0">
            <a:off x="13197840" y="9413557"/>
            <a:ext cx="3779520" cy="622935"/>
          </a:xfrm>
          <a:prstGeom prst="rect">
            <a:avLst/>
          </a:prstGeom>
        </p:spPr>
        <p:txBody>
          <a:bodyPr anchor="t" rtlCol="false" tIns="0" lIns="0" bIns="0" rIns="0">
            <a:spAutoFit/>
          </a:bodyPr>
          <a:lstStyle/>
          <a:p>
            <a:pPr algn="r">
              <a:lnSpc>
                <a:spcPts val="2160"/>
              </a:lnSpc>
            </a:pPr>
            <a:r>
              <a:rPr lang="en-US" sz="1800">
                <a:solidFill>
                  <a:srgbClr val="000000"/>
                </a:solidFill>
                <a:latin typeface="Verdana Pro"/>
                <a:ea typeface="Verdana Pro"/>
                <a:cs typeface="Verdana Pro"/>
                <a:sym typeface="Verdana Pro"/>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212056" y="2343152"/>
            <a:ext cx="15930564" cy="178593"/>
            <a:chOff x="0" y="0"/>
            <a:chExt cx="21240752" cy="238124"/>
          </a:xfrm>
        </p:grpSpPr>
        <p:sp>
          <p:nvSpPr>
            <p:cNvPr name="Freeform 4" id="4"/>
            <p:cNvSpPr/>
            <p:nvPr/>
          </p:nvSpPr>
          <p:spPr>
            <a:xfrm flipH="false" flipV="false" rot="0">
              <a:off x="9525" y="9525"/>
              <a:ext cx="12414758" cy="219075"/>
            </a:xfrm>
            <a:custGeom>
              <a:avLst/>
              <a:gdLst/>
              <a:ahLst/>
              <a:cxnLst/>
              <a:rect r="r" b="b" t="t" l="l"/>
              <a:pathLst>
                <a:path h="219075" w="12414758">
                  <a:moveTo>
                    <a:pt x="0" y="0"/>
                  </a:moveTo>
                  <a:lnTo>
                    <a:pt x="12414758" y="0"/>
                  </a:lnTo>
                  <a:lnTo>
                    <a:pt x="12414758" y="219075"/>
                  </a:lnTo>
                  <a:lnTo>
                    <a:pt x="0" y="219075"/>
                  </a:lnTo>
                  <a:lnTo>
                    <a:pt x="0" y="0"/>
                  </a:lnTo>
                  <a:close/>
                </a:path>
              </a:pathLst>
            </a:custGeom>
            <a:solidFill>
              <a:srgbClr val="CC0000"/>
            </a:solidFill>
          </p:spPr>
        </p:sp>
        <p:sp>
          <p:nvSpPr>
            <p:cNvPr name="Freeform 5" id="5"/>
            <p:cNvSpPr/>
            <p:nvPr/>
          </p:nvSpPr>
          <p:spPr>
            <a:xfrm flipH="false" flipV="false" rot="0">
              <a:off x="9525" y="9525"/>
              <a:ext cx="21221700" cy="0"/>
            </a:xfrm>
            <a:custGeom>
              <a:avLst/>
              <a:gdLst/>
              <a:ahLst/>
              <a:cxnLst/>
              <a:rect r="r" b="b" t="t" l="l"/>
              <a:pathLst>
                <a:path h="0" w="21221700">
                  <a:moveTo>
                    <a:pt x="0" y="0"/>
                  </a:moveTo>
                  <a:lnTo>
                    <a:pt x="21221700" y="0"/>
                  </a:lnTo>
                </a:path>
              </a:pathLst>
            </a:custGeom>
            <a:solidFill>
              <a:srgbClr val="CC0000"/>
            </a:solidFill>
          </p:spPr>
        </p:sp>
        <p:sp>
          <p:nvSpPr>
            <p:cNvPr name="Freeform 6" id="6"/>
            <p:cNvSpPr/>
            <p:nvPr/>
          </p:nvSpPr>
          <p:spPr>
            <a:xfrm flipH="false" flipV="false" rot="0">
              <a:off x="0" y="0"/>
              <a:ext cx="12433808" cy="238125"/>
            </a:xfrm>
            <a:custGeom>
              <a:avLst/>
              <a:gdLst/>
              <a:ahLst/>
              <a:cxnLst/>
              <a:rect r="r" b="b" t="t" l="l"/>
              <a:pathLst>
                <a:path h="238125" w="12433808">
                  <a:moveTo>
                    <a:pt x="9525" y="0"/>
                  </a:moveTo>
                  <a:lnTo>
                    <a:pt x="12424283" y="0"/>
                  </a:lnTo>
                  <a:cubicBezTo>
                    <a:pt x="12429489" y="0"/>
                    <a:pt x="12433808" y="4318"/>
                    <a:pt x="12433808" y="9525"/>
                  </a:cubicBezTo>
                  <a:lnTo>
                    <a:pt x="12433808" y="228600"/>
                  </a:lnTo>
                  <a:cubicBezTo>
                    <a:pt x="12433808" y="233807"/>
                    <a:pt x="12429489" y="238125"/>
                    <a:pt x="12424283"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424283" y="219075"/>
                  </a:lnTo>
                  <a:lnTo>
                    <a:pt x="12424283" y="228600"/>
                  </a:lnTo>
                  <a:lnTo>
                    <a:pt x="12414758" y="228600"/>
                  </a:lnTo>
                  <a:lnTo>
                    <a:pt x="12414758" y="9525"/>
                  </a:lnTo>
                  <a:lnTo>
                    <a:pt x="12424283" y="9525"/>
                  </a:lnTo>
                  <a:lnTo>
                    <a:pt x="12424283" y="19050"/>
                  </a:lnTo>
                  <a:lnTo>
                    <a:pt x="9525" y="19050"/>
                  </a:lnTo>
                  <a:close/>
                </a:path>
              </a:pathLst>
            </a:custGeom>
            <a:solidFill>
              <a:srgbClr val="CC0000"/>
            </a:solidFill>
          </p:spPr>
        </p:sp>
        <p:sp>
          <p:nvSpPr>
            <p:cNvPr name="Freeform 7" id="7"/>
            <p:cNvSpPr/>
            <p:nvPr/>
          </p:nvSpPr>
          <p:spPr>
            <a:xfrm flipH="false" flipV="false" rot="0">
              <a:off x="9525" y="0"/>
              <a:ext cx="21221700" cy="19050"/>
            </a:xfrm>
            <a:custGeom>
              <a:avLst/>
              <a:gdLst/>
              <a:ahLst/>
              <a:cxnLst/>
              <a:rect r="r" b="b" t="t" l="l"/>
              <a:pathLst>
                <a:path h="19050" w="21221700">
                  <a:moveTo>
                    <a:pt x="0" y="0"/>
                  </a:moveTo>
                  <a:lnTo>
                    <a:pt x="21221700" y="0"/>
                  </a:lnTo>
                  <a:lnTo>
                    <a:pt x="21221700" y="19050"/>
                  </a:lnTo>
                  <a:lnTo>
                    <a:pt x="0" y="19050"/>
                  </a:lnTo>
                  <a:close/>
                </a:path>
              </a:pathLst>
            </a:custGeom>
            <a:solidFill>
              <a:srgbClr val="CC0000"/>
            </a:solidFill>
          </p:spPr>
        </p:sp>
      </p:grpSp>
      <p:grpSp>
        <p:nvGrpSpPr>
          <p:cNvPr name="Group 8" id="8"/>
          <p:cNvGrpSpPr/>
          <p:nvPr/>
        </p:nvGrpSpPr>
        <p:grpSpPr>
          <a:xfrm rot="0">
            <a:off x="1216819" y="9255919"/>
            <a:ext cx="15854362" cy="4762"/>
            <a:chOff x="0" y="0"/>
            <a:chExt cx="21139150" cy="6350"/>
          </a:xfrm>
        </p:grpSpPr>
        <p:sp>
          <p:nvSpPr>
            <p:cNvPr name="Freeform 9" id="9"/>
            <p:cNvSpPr/>
            <p:nvPr/>
          </p:nvSpPr>
          <p:spPr>
            <a:xfrm flipH="false" flipV="false" rot="0">
              <a:off x="3175" y="0"/>
              <a:ext cx="21132800" cy="6350"/>
            </a:xfrm>
            <a:custGeom>
              <a:avLst/>
              <a:gdLst/>
              <a:ahLst/>
              <a:cxnLst/>
              <a:rect r="r" b="b" t="t" l="l"/>
              <a:pathLst>
                <a:path h="6350" w="21132800">
                  <a:moveTo>
                    <a:pt x="0" y="0"/>
                  </a:moveTo>
                  <a:lnTo>
                    <a:pt x="21132800" y="0"/>
                  </a:lnTo>
                  <a:lnTo>
                    <a:pt x="21132800" y="6350"/>
                  </a:lnTo>
                  <a:lnTo>
                    <a:pt x="0" y="6350"/>
                  </a:lnTo>
                  <a:close/>
                </a:path>
              </a:pathLst>
            </a:custGeom>
            <a:solidFill>
              <a:srgbClr val="CC0000"/>
            </a:solidFill>
          </p:spPr>
        </p:sp>
      </p:grpSp>
      <p:grpSp>
        <p:nvGrpSpPr>
          <p:cNvPr name="Group 10" id="10"/>
          <p:cNvGrpSpPr/>
          <p:nvPr/>
        </p:nvGrpSpPr>
        <p:grpSpPr>
          <a:xfrm rot="0">
            <a:off x="1149350" y="457202"/>
            <a:ext cx="16002000" cy="1824038"/>
            <a:chOff x="0" y="0"/>
            <a:chExt cx="21336000" cy="2432050"/>
          </a:xfrm>
        </p:grpSpPr>
        <p:sp>
          <p:nvSpPr>
            <p:cNvPr name="Freeform 11" id="11"/>
            <p:cNvSpPr/>
            <p:nvPr/>
          </p:nvSpPr>
          <p:spPr>
            <a:xfrm flipH="false" flipV="false" rot="0">
              <a:off x="0" y="0"/>
              <a:ext cx="21336000" cy="2432050"/>
            </a:xfrm>
            <a:custGeom>
              <a:avLst/>
              <a:gdLst/>
              <a:ahLst/>
              <a:cxnLst/>
              <a:rect r="r" b="b" t="t" l="l"/>
              <a:pathLst>
                <a:path h="2432050" w="21336000">
                  <a:moveTo>
                    <a:pt x="0" y="0"/>
                  </a:moveTo>
                  <a:lnTo>
                    <a:pt x="21336000" y="0"/>
                  </a:lnTo>
                  <a:lnTo>
                    <a:pt x="21336000" y="2432050"/>
                  </a:lnTo>
                  <a:lnTo>
                    <a:pt x="0" y="2432050"/>
                  </a:lnTo>
                  <a:close/>
                </a:path>
              </a:pathLst>
            </a:custGeom>
            <a:solidFill>
              <a:srgbClr val="000000">
                <a:alpha val="0"/>
              </a:srgbClr>
            </a:solidFill>
          </p:spPr>
        </p:sp>
        <p:sp>
          <p:nvSpPr>
            <p:cNvPr name="TextBox 12" id="12"/>
            <p:cNvSpPr txBox="true"/>
            <p:nvPr/>
          </p:nvSpPr>
          <p:spPr>
            <a:xfrm>
              <a:off x="0" y="-95250"/>
              <a:ext cx="21336000" cy="2527300"/>
            </a:xfrm>
            <a:prstGeom prst="rect">
              <a:avLst/>
            </a:prstGeom>
          </p:spPr>
          <p:txBody>
            <a:bodyPr anchor="b" rtlCol="false" tIns="0" lIns="0" bIns="0" rIns="0"/>
            <a:lstStyle/>
            <a:p>
              <a:pPr algn="ctr">
                <a:lnSpc>
                  <a:spcPts val="5759"/>
                </a:lnSpc>
              </a:pPr>
              <a:r>
                <a:rPr lang="en-US" sz="4800" b="true">
                  <a:solidFill>
                    <a:srgbClr val="FF0000"/>
                  </a:solidFill>
                  <a:latin typeface="Times New Roman MT Bold"/>
                  <a:ea typeface="Times New Roman MT Bold"/>
                  <a:cs typeface="Times New Roman MT Bold"/>
                  <a:sym typeface="Times New Roman MT Bold"/>
                </a:rPr>
                <a:t>PROJECT OVERVIEW</a:t>
              </a:r>
            </a:p>
          </p:txBody>
        </p:sp>
      </p:grpSp>
      <p:sp>
        <p:nvSpPr>
          <p:cNvPr name="TextBox 13" id="13"/>
          <p:cNvSpPr txBox="true"/>
          <p:nvPr/>
        </p:nvSpPr>
        <p:spPr>
          <a:xfrm rot="0">
            <a:off x="1310640" y="9413557"/>
            <a:ext cx="3779520" cy="266700"/>
          </a:xfrm>
          <a:prstGeom prst="rect">
            <a:avLst/>
          </a:prstGeom>
        </p:spPr>
        <p:txBody>
          <a:bodyPr anchor="t" rtlCol="false" tIns="0" lIns="0" bIns="0" rIns="0">
            <a:spAutoFit/>
          </a:bodyPr>
          <a:lstStyle/>
          <a:p>
            <a:pPr algn="l">
              <a:lnSpc>
                <a:spcPts val="2160"/>
              </a:lnSpc>
            </a:pPr>
            <a:r>
              <a:rPr lang="en-US" sz="1800">
                <a:solidFill>
                  <a:srgbClr val="000000"/>
                </a:solidFill>
                <a:latin typeface="Verdana Pro"/>
                <a:ea typeface="Verdana Pro"/>
                <a:cs typeface="Verdana Pro"/>
                <a:sym typeface="Verdana Pro"/>
              </a:rPr>
              <a:t>Second</a:t>
            </a:r>
            <a:r>
              <a:rPr lang="en-US" sz="1800">
                <a:solidFill>
                  <a:srgbClr val="000000"/>
                </a:solidFill>
                <a:latin typeface="Verdana Pro"/>
                <a:ea typeface="Verdana Pro"/>
                <a:cs typeface="Verdana Pro"/>
                <a:sym typeface="Verdana Pro"/>
              </a:rPr>
              <a:t> Review</a:t>
            </a:r>
          </a:p>
        </p:txBody>
      </p:sp>
      <p:sp>
        <p:nvSpPr>
          <p:cNvPr name="TextBox 14" id="14"/>
          <p:cNvSpPr txBox="true"/>
          <p:nvPr/>
        </p:nvSpPr>
        <p:spPr>
          <a:xfrm rot="0">
            <a:off x="6339840" y="9413557"/>
            <a:ext cx="5608320" cy="622935"/>
          </a:xfrm>
          <a:prstGeom prst="rect">
            <a:avLst/>
          </a:prstGeom>
        </p:spPr>
        <p:txBody>
          <a:bodyPr anchor="t" rtlCol="false" tIns="0" lIns="0" bIns="0" rIns="0">
            <a:spAutoFit/>
          </a:bodyPr>
          <a:lstStyle/>
          <a:p>
            <a:pPr algn="ctr">
              <a:lnSpc>
                <a:spcPts val="2160"/>
              </a:lnSpc>
            </a:pPr>
            <a:r>
              <a:rPr lang="en-US" sz="1800">
                <a:solidFill>
                  <a:srgbClr val="000000"/>
                </a:solidFill>
                <a:latin typeface="Verdana Pro"/>
                <a:ea typeface="Verdana Pro"/>
                <a:cs typeface="Verdana Pro"/>
                <a:sym typeface="Verdana Pro"/>
              </a:rPr>
              <a:t>Department of Computer Science and Engineering</a:t>
            </a:r>
          </a:p>
        </p:txBody>
      </p:sp>
      <p:sp>
        <p:nvSpPr>
          <p:cNvPr name="TextBox 15" id="15"/>
          <p:cNvSpPr txBox="true"/>
          <p:nvPr/>
        </p:nvSpPr>
        <p:spPr>
          <a:xfrm rot="0">
            <a:off x="13197840" y="9413557"/>
            <a:ext cx="3779520" cy="622935"/>
          </a:xfrm>
          <a:prstGeom prst="rect">
            <a:avLst/>
          </a:prstGeom>
        </p:spPr>
        <p:txBody>
          <a:bodyPr anchor="t" rtlCol="false" tIns="0" lIns="0" bIns="0" rIns="0">
            <a:spAutoFit/>
          </a:bodyPr>
          <a:lstStyle/>
          <a:p>
            <a:pPr algn="r">
              <a:lnSpc>
                <a:spcPts val="2160"/>
              </a:lnSpc>
            </a:pPr>
            <a:r>
              <a:rPr lang="en-US" sz="1800">
                <a:solidFill>
                  <a:srgbClr val="000000"/>
                </a:solidFill>
                <a:latin typeface="Verdana Pro"/>
                <a:ea typeface="Verdana Pro"/>
                <a:cs typeface="Verdana Pro"/>
                <a:sym typeface="Verdana Pro"/>
              </a:rPr>
              <a:t>3</a:t>
            </a:r>
          </a:p>
        </p:txBody>
      </p:sp>
      <p:grpSp>
        <p:nvGrpSpPr>
          <p:cNvPr name="Group 16" id="16"/>
          <p:cNvGrpSpPr/>
          <p:nvPr/>
        </p:nvGrpSpPr>
        <p:grpSpPr>
          <a:xfrm rot="0">
            <a:off x="1504696" y="2588420"/>
            <a:ext cx="15291308" cy="6324132"/>
            <a:chOff x="0" y="0"/>
            <a:chExt cx="20388411" cy="8432176"/>
          </a:xfrm>
        </p:grpSpPr>
        <p:sp>
          <p:nvSpPr>
            <p:cNvPr name="Freeform 17" id="17"/>
            <p:cNvSpPr/>
            <p:nvPr/>
          </p:nvSpPr>
          <p:spPr>
            <a:xfrm flipH="false" flipV="false" rot="0">
              <a:off x="0" y="0"/>
              <a:ext cx="20388411" cy="8432176"/>
            </a:xfrm>
            <a:custGeom>
              <a:avLst/>
              <a:gdLst/>
              <a:ahLst/>
              <a:cxnLst/>
              <a:rect r="r" b="b" t="t" l="l"/>
              <a:pathLst>
                <a:path h="8432176" w="20388411">
                  <a:moveTo>
                    <a:pt x="0" y="0"/>
                  </a:moveTo>
                  <a:lnTo>
                    <a:pt x="20388411" y="0"/>
                  </a:lnTo>
                  <a:lnTo>
                    <a:pt x="20388411" y="8432176"/>
                  </a:lnTo>
                  <a:lnTo>
                    <a:pt x="0" y="8432176"/>
                  </a:lnTo>
                  <a:close/>
                </a:path>
              </a:pathLst>
            </a:custGeom>
            <a:solidFill>
              <a:srgbClr val="000000">
                <a:alpha val="0"/>
              </a:srgbClr>
            </a:solidFill>
          </p:spPr>
        </p:sp>
        <p:sp>
          <p:nvSpPr>
            <p:cNvPr name="TextBox 18" id="18"/>
            <p:cNvSpPr txBox="true"/>
            <p:nvPr/>
          </p:nvSpPr>
          <p:spPr>
            <a:xfrm>
              <a:off x="0" y="-57150"/>
              <a:ext cx="20388411" cy="8489326"/>
            </a:xfrm>
            <a:prstGeom prst="rect">
              <a:avLst/>
            </a:prstGeom>
          </p:spPr>
          <p:txBody>
            <a:bodyPr anchor="ctr" rtlCol="false" tIns="0" lIns="0" bIns="0" rIns="0"/>
            <a:lstStyle/>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Provide a cost-effective, tr</a:t>
              </a:r>
              <a:r>
                <a:rPr lang="en-US" sz="2799">
                  <a:solidFill>
                    <a:srgbClr val="000000"/>
                  </a:solidFill>
                  <a:latin typeface="Times New Roman MT"/>
                  <a:ea typeface="Times New Roman MT"/>
                  <a:cs typeface="Times New Roman MT"/>
                  <a:sym typeface="Times New Roman MT"/>
                </a:rPr>
                <a:t>ustworthy IoT safety solution for Indian households that monitors LPG leaks, smoke, open flame, and unusual heat in real time with MQ-2, MQ-6, YG1006, and DHT11.</a:t>
              </a:r>
            </a:p>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Transition from reactive alarms to proactive safeguarding by anticipating perils in advance with a light weight Decision Tree model minimizing false alarms and enhancing response confidence.</a:t>
              </a:r>
            </a:p>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Offer a clean, readable user interface through a React dashboard with color-coded statuses, real-time gauges, trends, and multilingual alerts appropriate for varied households.</a:t>
              </a:r>
            </a:p>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Combin</a:t>
              </a:r>
              <a:r>
                <a:rPr lang="en-US" sz="2799">
                  <a:solidFill>
                    <a:srgbClr val="000000"/>
                  </a:solidFill>
                  <a:latin typeface="Times New Roman MT"/>
                  <a:ea typeface="Times New Roman MT"/>
                  <a:cs typeface="Times New Roman MT"/>
                  <a:sym typeface="Times New Roman MT"/>
                </a:rPr>
                <a:t>e multi sensor inputs (gas, smoke, flame, temperature) on Arduino + ESP8266 for continuous acquisition and robust on-device processing.</a:t>
              </a:r>
            </a:p>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Deploy a lightweight Decision Tree classifier (trained on normal/warning/danger labeled data) for early detection of anomalies and context based risks.</a:t>
              </a:r>
            </a:p>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Stream categorized readings to a backend and display live insights on a React web dashboard with thresholds, trends, and alert history.</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212056" y="2343152"/>
            <a:ext cx="15930564" cy="178593"/>
            <a:chOff x="0" y="0"/>
            <a:chExt cx="21240752" cy="238124"/>
          </a:xfrm>
        </p:grpSpPr>
        <p:sp>
          <p:nvSpPr>
            <p:cNvPr name="Freeform 4" id="4"/>
            <p:cNvSpPr/>
            <p:nvPr/>
          </p:nvSpPr>
          <p:spPr>
            <a:xfrm flipH="false" flipV="false" rot="0">
              <a:off x="9525" y="9525"/>
              <a:ext cx="12414758" cy="219075"/>
            </a:xfrm>
            <a:custGeom>
              <a:avLst/>
              <a:gdLst/>
              <a:ahLst/>
              <a:cxnLst/>
              <a:rect r="r" b="b" t="t" l="l"/>
              <a:pathLst>
                <a:path h="219075" w="12414758">
                  <a:moveTo>
                    <a:pt x="0" y="0"/>
                  </a:moveTo>
                  <a:lnTo>
                    <a:pt x="12414758" y="0"/>
                  </a:lnTo>
                  <a:lnTo>
                    <a:pt x="12414758" y="219075"/>
                  </a:lnTo>
                  <a:lnTo>
                    <a:pt x="0" y="219075"/>
                  </a:lnTo>
                  <a:lnTo>
                    <a:pt x="0" y="0"/>
                  </a:lnTo>
                  <a:close/>
                </a:path>
              </a:pathLst>
            </a:custGeom>
            <a:solidFill>
              <a:srgbClr val="CC0000"/>
            </a:solidFill>
          </p:spPr>
        </p:sp>
        <p:sp>
          <p:nvSpPr>
            <p:cNvPr name="Freeform 5" id="5"/>
            <p:cNvSpPr/>
            <p:nvPr/>
          </p:nvSpPr>
          <p:spPr>
            <a:xfrm flipH="false" flipV="false" rot="0">
              <a:off x="9525" y="9525"/>
              <a:ext cx="21221700" cy="0"/>
            </a:xfrm>
            <a:custGeom>
              <a:avLst/>
              <a:gdLst/>
              <a:ahLst/>
              <a:cxnLst/>
              <a:rect r="r" b="b" t="t" l="l"/>
              <a:pathLst>
                <a:path h="0" w="21221700">
                  <a:moveTo>
                    <a:pt x="0" y="0"/>
                  </a:moveTo>
                  <a:lnTo>
                    <a:pt x="21221700" y="0"/>
                  </a:lnTo>
                </a:path>
              </a:pathLst>
            </a:custGeom>
            <a:solidFill>
              <a:srgbClr val="CC0000"/>
            </a:solidFill>
          </p:spPr>
        </p:sp>
        <p:sp>
          <p:nvSpPr>
            <p:cNvPr name="Freeform 6" id="6"/>
            <p:cNvSpPr/>
            <p:nvPr/>
          </p:nvSpPr>
          <p:spPr>
            <a:xfrm flipH="false" flipV="false" rot="0">
              <a:off x="0" y="0"/>
              <a:ext cx="12433808" cy="238125"/>
            </a:xfrm>
            <a:custGeom>
              <a:avLst/>
              <a:gdLst/>
              <a:ahLst/>
              <a:cxnLst/>
              <a:rect r="r" b="b" t="t" l="l"/>
              <a:pathLst>
                <a:path h="238125" w="12433808">
                  <a:moveTo>
                    <a:pt x="9525" y="0"/>
                  </a:moveTo>
                  <a:lnTo>
                    <a:pt x="12424283" y="0"/>
                  </a:lnTo>
                  <a:cubicBezTo>
                    <a:pt x="12429489" y="0"/>
                    <a:pt x="12433808" y="4318"/>
                    <a:pt x="12433808" y="9525"/>
                  </a:cubicBezTo>
                  <a:lnTo>
                    <a:pt x="12433808" y="228600"/>
                  </a:lnTo>
                  <a:cubicBezTo>
                    <a:pt x="12433808" y="233807"/>
                    <a:pt x="12429489" y="238125"/>
                    <a:pt x="12424283"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424283" y="219075"/>
                  </a:lnTo>
                  <a:lnTo>
                    <a:pt x="12424283" y="228600"/>
                  </a:lnTo>
                  <a:lnTo>
                    <a:pt x="12414758" y="228600"/>
                  </a:lnTo>
                  <a:lnTo>
                    <a:pt x="12414758" y="9525"/>
                  </a:lnTo>
                  <a:lnTo>
                    <a:pt x="12424283" y="9525"/>
                  </a:lnTo>
                  <a:lnTo>
                    <a:pt x="12424283" y="19050"/>
                  </a:lnTo>
                  <a:lnTo>
                    <a:pt x="9525" y="19050"/>
                  </a:lnTo>
                  <a:close/>
                </a:path>
              </a:pathLst>
            </a:custGeom>
            <a:solidFill>
              <a:srgbClr val="CC0000"/>
            </a:solidFill>
          </p:spPr>
        </p:sp>
        <p:sp>
          <p:nvSpPr>
            <p:cNvPr name="Freeform 7" id="7"/>
            <p:cNvSpPr/>
            <p:nvPr/>
          </p:nvSpPr>
          <p:spPr>
            <a:xfrm flipH="false" flipV="false" rot="0">
              <a:off x="9525" y="0"/>
              <a:ext cx="21221700" cy="19050"/>
            </a:xfrm>
            <a:custGeom>
              <a:avLst/>
              <a:gdLst/>
              <a:ahLst/>
              <a:cxnLst/>
              <a:rect r="r" b="b" t="t" l="l"/>
              <a:pathLst>
                <a:path h="19050" w="21221700">
                  <a:moveTo>
                    <a:pt x="0" y="0"/>
                  </a:moveTo>
                  <a:lnTo>
                    <a:pt x="21221700" y="0"/>
                  </a:lnTo>
                  <a:lnTo>
                    <a:pt x="21221700" y="19050"/>
                  </a:lnTo>
                  <a:lnTo>
                    <a:pt x="0" y="19050"/>
                  </a:lnTo>
                  <a:close/>
                </a:path>
              </a:pathLst>
            </a:custGeom>
            <a:solidFill>
              <a:srgbClr val="CC0000"/>
            </a:solidFill>
          </p:spPr>
        </p:sp>
      </p:grpSp>
      <p:grpSp>
        <p:nvGrpSpPr>
          <p:cNvPr name="Group 8" id="8"/>
          <p:cNvGrpSpPr/>
          <p:nvPr/>
        </p:nvGrpSpPr>
        <p:grpSpPr>
          <a:xfrm rot="0">
            <a:off x="1216819" y="9255919"/>
            <a:ext cx="15854362" cy="4762"/>
            <a:chOff x="0" y="0"/>
            <a:chExt cx="21139150" cy="6350"/>
          </a:xfrm>
        </p:grpSpPr>
        <p:sp>
          <p:nvSpPr>
            <p:cNvPr name="Freeform 9" id="9"/>
            <p:cNvSpPr/>
            <p:nvPr/>
          </p:nvSpPr>
          <p:spPr>
            <a:xfrm flipH="false" flipV="false" rot="0">
              <a:off x="3175" y="0"/>
              <a:ext cx="21132800" cy="6350"/>
            </a:xfrm>
            <a:custGeom>
              <a:avLst/>
              <a:gdLst/>
              <a:ahLst/>
              <a:cxnLst/>
              <a:rect r="r" b="b" t="t" l="l"/>
              <a:pathLst>
                <a:path h="6350" w="21132800">
                  <a:moveTo>
                    <a:pt x="0" y="0"/>
                  </a:moveTo>
                  <a:lnTo>
                    <a:pt x="21132800" y="0"/>
                  </a:lnTo>
                  <a:lnTo>
                    <a:pt x="21132800" y="6350"/>
                  </a:lnTo>
                  <a:lnTo>
                    <a:pt x="0" y="6350"/>
                  </a:lnTo>
                  <a:close/>
                </a:path>
              </a:pathLst>
            </a:custGeom>
            <a:solidFill>
              <a:srgbClr val="CC0000"/>
            </a:solidFill>
          </p:spPr>
        </p:sp>
      </p:grpSp>
      <p:grpSp>
        <p:nvGrpSpPr>
          <p:cNvPr name="Group 10" id="10"/>
          <p:cNvGrpSpPr/>
          <p:nvPr/>
        </p:nvGrpSpPr>
        <p:grpSpPr>
          <a:xfrm rot="0">
            <a:off x="1149350" y="457202"/>
            <a:ext cx="16002000" cy="1824038"/>
            <a:chOff x="0" y="0"/>
            <a:chExt cx="21336000" cy="2432050"/>
          </a:xfrm>
        </p:grpSpPr>
        <p:sp>
          <p:nvSpPr>
            <p:cNvPr name="Freeform 11" id="11"/>
            <p:cNvSpPr/>
            <p:nvPr/>
          </p:nvSpPr>
          <p:spPr>
            <a:xfrm flipH="false" flipV="false" rot="0">
              <a:off x="0" y="0"/>
              <a:ext cx="21336000" cy="2432050"/>
            </a:xfrm>
            <a:custGeom>
              <a:avLst/>
              <a:gdLst/>
              <a:ahLst/>
              <a:cxnLst/>
              <a:rect r="r" b="b" t="t" l="l"/>
              <a:pathLst>
                <a:path h="2432050" w="21336000">
                  <a:moveTo>
                    <a:pt x="0" y="0"/>
                  </a:moveTo>
                  <a:lnTo>
                    <a:pt x="21336000" y="0"/>
                  </a:lnTo>
                  <a:lnTo>
                    <a:pt x="21336000" y="2432050"/>
                  </a:lnTo>
                  <a:lnTo>
                    <a:pt x="0" y="2432050"/>
                  </a:lnTo>
                  <a:close/>
                </a:path>
              </a:pathLst>
            </a:custGeom>
            <a:solidFill>
              <a:srgbClr val="000000">
                <a:alpha val="0"/>
              </a:srgbClr>
            </a:solidFill>
          </p:spPr>
        </p:sp>
        <p:sp>
          <p:nvSpPr>
            <p:cNvPr name="TextBox 12" id="12"/>
            <p:cNvSpPr txBox="true"/>
            <p:nvPr/>
          </p:nvSpPr>
          <p:spPr>
            <a:xfrm>
              <a:off x="0" y="-95250"/>
              <a:ext cx="21336000" cy="2527300"/>
            </a:xfrm>
            <a:prstGeom prst="rect">
              <a:avLst/>
            </a:prstGeom>
          </p:spPr>
          <p:txBody>
            <a:bodyPr anchor="b" rtlCol="false" tIns="0" lIns="0" bIns="0" rIns="0"/>
            <a:lstStyle/>
            <a:p>
              <a:pPr algn="ctr">
                <a:lnSpc>
                  <a:spcPts val="5759"/>
                </a:lnSpc>
              </a:pPr>
              <a:r>
                <a:rPr lang="en-US" sz="4800" b="true">
                  <a:solidFill>
                    <a:srgbClr val="FF0000"/>
                  </a:solidFill>
                  <a:latin typeface="Times New Roman MT Bold"/>
                  <a:ea typeface="Times New Roman MT Bold"/>
                  <a:cs typeface="Times New Roman MT Bold"/>
                  <a:sym typeface="Times New Roman MT Bold"/>
                </a:rPr>
                <a:t>EXISTING SYSTEM</a:t>
              </a:r>
            </a:p>
          </p:txBody>
        </p:sp>
      </p:grpSp>
      <p:sp>
        <p:nvSpPr>
          <p:cNvPr name="TextBox 13" id="13"/>
          <p:cNvSpPr txBox="true"/>
          <p:nvPr/>
        </p:nvSpPr>
        <p:spPr>
          <a:xfrm rot="0">
            <a:off x="1224916" y="2617470"/>
            <a:ext cx="15819120" cy="6343650"/>
          </a:xfrm>
          <a:prstGeom prst="rect">
            <a:avLst/>
          </a:prstGeom>
        </p:spPr>
        <p:txBody>
          <a:bodyPr anchor="t" rtlCol="false" tIns="0" lIns="0" bIns="0" rIns="0">
            <a:spAutoFit/>
          </a:bodyPr>
          <a:lstStyle/>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Comme</a:t>
            </a:r>
            <a:r>
              <a:rPr lang="en-US" sz="2799">
                <a:solidFill>
                  <a:srgbClr val="000000"/>
                </a:solidFill>
                <a:latin typeface="Times New Roman MT"/>
                <a:ea typeface="Times New Roman MT"/>
                <a:cs typeface="Times New Roman MT"/>
                <a:sym typeface="Times New Roman MT"/>
              </a:rPr>
              <a:t>rcial LPG wall detectors (Vighnaharta TS12CLR-EX-LEL, flameproof, RS485/Modbus, %LEL display, relays): hardy but fixed threshold, single-use, industrial cost, very little home UI or predictive reasoning.</a:t>
            </a:r>
          </a:p>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Consumer Wi‑Fi gas alarms (Tuya/SmartLife, Connex, Sonoff): app notifications and optionally linked valve, but limited sensor fusion, thin analytics/history, and susceptible to nuisance alarms without context aware ML.</a:t>
            </a:r>
          </a:p>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Combined smoke/CO home alarms (NFPA referenced, composite detectors limit false alarms): suitable for smoke/CO, but usually don't include LPG detection and don't have multi modal kitchen context along with real-time dashboards.</a:t>
            </a:r>
          </a:p>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Fuse mult</a:t>
            </a:r>
            <a:r>
              <a:rPr lang="en-US" sz="2799">
                <a:solidFill>
                  <a:srgbClr val="000000"/>
                </a:solidFill>
                <a:latin typeface="Times New Roman MT"/>
                <a:ea typeface="Times New Roman MT"/>
                <a:cs typeface="Times New Roman MT"/>
                <a:sym typeface="Times New Roman MT"/>
              </a:rPr>
              <a:t>i sensor data (gas, smoke, flame, temperature) on Arduino + ESP8266 for ongoing acquisition and robust on device processing.</a:t>
            </a:r>
          </a:p>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Use a light Decision Tree classifier (trained on labeled normal/warning/danger data) to identify early anomalies and context based risks.</a:t>
            </a:r>
          </a:p>
          <a:p>
            <a:pPr algn="just" marL="506730" indent="-253365" lvl="1">
              <a:lnSpc>
                <a:spcPts val="3359"/>
              </a:lnSpc>
              <a:buFont typeface="Arial"/>
              <a:buChar char="•"/>
            </a:pPr>
            <a:r>
              <a:rPr lang="en-US" sz="2799">
                <a:solidFill>
                  <a:srgbClr val="000000"/>
                </a:solidFill>
                <a:latin typeface="Times New Roman MT"/>
                <a:ea typeface="Times New Roman MT"/>
                <a:cs typeface="Times New Roman MT"/>
                <a:sym typeface="Times New Roman MT"/>
              </a:rPr>
              <a:t>Stream structured reads into a backend and display real time insights on a React web dashboard with thresholds, trends, and alert history.</a:t>
            </a:r>
          </a:p>
        </p:txBody>
      </p:sp>
      <p:sp>
        <p:nvSpPr>
          <p:cNvPr name="TextBox 14" id="14"/>
          <p:cNvSpPr txBox="true"/>
          <p:nvPr/>
        </p:nvSpPr>
        <p:spPr>
          <a:xfrm rot="0">
            <a:off x="1310640" y="9413557"/>
            <a:ext cx="3779520" cy="266700"/>
          </a:xfrm>
          <a:prstGeom prst="rect">
            <a:avLst/>
          </a:prstGeom>
        </p:spPr>
        <p:txBody>
          <a:bodyPr anchor="t" rtlCol="false" tIns="0" lIns="0" bIns="0" rIns="0">
            <a:spAutoFit/>
          </a:bodyPr>
          <a:lstStyle/>
          <a:p>
            <a:pPr algn="l">
              <a:lnSpc>
                <a:spcPts val="2160"/>
              </a:lnSpc>
            </a:pPr>
            <a:r>
              <a:rPr lang="en-US" sz="1800">
                <a:solidFill>
                  <a:srgbClr val="000000"/>
                </a:solidFill>
                <a:latin typeface="Verdana Pro"/>
                <a:ea typeface="Verdana Pro"/>
                <a:cs typeface="Verdana Pro"/>
                <a:sym typeface="Verdana Pro"/>
              </a:rPr>
              <a:t>Second</a:t>
            </a:r>
            <a:r>
              <a:rPr lang="en-US" sz="1800">
                <a:solidFill>
                  <a:srgbClr val="000000"/>
                </a:solidFill>
                <a:latin typeface="Verdana Pro"/>
                <a:ea typeface="Verdana Pro"/>
                <a:cs typeface="Verdana Pro"/>
                <a:sym typeface="Verdana Pro"/>
              </a:rPr>
              <a:t> Review</a:t>
            </a:r>
          </a:p>
        </p:txBody>
      </p:sp>
      <p:sp>
        <p:nvSpPr>
          <p:cNvPr name="TextBox 15" id="15"/>
          <p:cNvSpPr txBox="true"/>
          <p:nvPr/>
        </p:nvSpPr>
        <p:spPr>
          <a:xfrm rot="0">
            <a:off x="6339840" y="9413557"/>
            <a:ext cx="5608320" cy="622935"/>
          </a:xfrm>
          <a:prstGeom prst="rect">
            <a:avLst/>
          </a:prstGeom>
        </p:spPr>
        <p:txBody>
          <a:bodyPr anchor="t" rtlCol="false" tIns="0" lIns="0" bIns="0" rIns="0">
            <a:spAutoFit/>
          </a:bodyPr>
          <a:lstStyle/>
          <a:p>
            <a:pPr algn="ctr">
              <a:lnSpc>
                <a:spcPts val="2160"/>
              </a:lnSpc>
            </a:pPr>
            <a:r>
              <a:rPr lang="en-US" sz="1800">
                <a:solidFill>
                  <a:srgbClr val="000000"/>
                </a:solidFill>
                <a:latin typeface="Verdana Pro"/>
                <a:ea typeface="Verdana Pro"/>
                <a:cs typeface="Verdana Pro"/>
                <a:sym typeface="Verdana Pro"/>
              </a:rPr>
              <a:t>Department of Computer Science and Engineering</a:t>
            </a:r>
          </a:p>
        </p:txBody>
      </p:sp>
      <p:sp>
        <p:nvSpPr>
          <p:cNvPr name="TextBox 16" id="16"/>
          <p:cNvSpPr txBox="true"/>
          <p:nvPr/>
        </p:nvSpPr>
        <p:spPr>
          <a:xfrm rot="0">
            <a:off x="13197840" y="9413557"/>
            <a:ext cx="3779520" cy="622935"/>
          </a:xfrm>
          <a:prstGeom prst="rect">
            <a:avLst/>
          </a:prstGeom>
        </p:spPr>
        <p:txBody>
          <a:bodyPr anchor="t" rtlCol="false" tIns="0" lIns="0" bIns="0" rIns="0">
            <a:spAutoFit/>
          </a:bodyPr>
          <a:lstStyle/>
          <a:p>
            <a:pPr algn="r">
              <a:lnSpc>
                <a:spcPts val="2160"/>
              </a:lnSpc>
            </a:pPr>
            <a:r>
              <a:rPr lang="en-US" sz="1800">
                <a:solidFill>
                  <a:srgbClr val="000000"/>
                </a:solidFill>
                <a:latin typeface="Verdana Pro"/>
                <a:ea typeface="Verdana Pro"/>
                <a:cs typeface="Verdana Pro"/>
                <a:sym typeface="Verdana Pro"/>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212056" y="2343152"/>
            <a:ext cx="15930564" cy="178593"/>
            <a:chOff x="0" y="0"/>
            <a:chExt cx="21240752" cy="238124"/>
          </a:xfrm>
        </p:grpSpPr>
        <p:sp>
          <p:nvSpPr>
            <p:cNvPr name="Freeform 4" id="4"/>
            <p:cNvSpPr/>
            <p:nvPr/>
          </p:nvSpPr>
          <p:spPr>
            <a:xfrm flipH="false" flipV="false" rot="0">
              <a:off x="9525" y="9525"/>
              <a:ext cx="12414758" cy="219075"/>
            </a:xfrm>
            <a:custGeom>
              <a:avLst/>
              <a:gdLst/>
              <a:ahLst/>
              <a:cxnLst/>
              <a:rect r="r" b="b" t="t" l="l"/>
              <a:pathLst>
                <a:path h="219075" w="12414758">
                  <a:moveTo>
                    <a:pt x="0" y="0"/>
                  </a:moveTo>
                  <a:lnTo>
                    <a:pt x="12414758" y="0"/>
                  </a:lnTo>
                  <a:lnTo>
                    <a:pt x="12414758" y="219075"/>
                  </a:lnTo>
                  <a:lnTo>
                    <a:pt x="0" y="219075"/>
                  </a:lnTo>
                  <a:lnTo>
                    <a:pt x="0" y="0"/>
                  </a:lnTo>
                  <a:close/>
                </a:path>
              </a:pathLst>
            </a:custGeom>
            <a:solidFill>
              <a:srgbClr val="CC0000"/>
            </a:solidFill>
          </p:spPr>
        </p:sp>
        <p:sp>
          <p:nvSpPr>
            <p:cNvPr name="Freeform 5" id="5"/>
            <p:cNvSpPr/>
            <p:nvPr/>
          </p:nvSpPr>
          <p:spPr>
            <a:xfrm flipH="false" flipV="false" rot="0">
              <a:off x="9525" y="9525"/>
              <a:ext cx="21221700" cy="0"/>
            </a:xfrm>
            <a:custGeom>
              <a:avLst/>
              <a:gdLst/>
              <a:ahLst/>
              <a:cxnLst/>
              <a:rect r="r" b="b" t="t" l="l"/>
              <a:pathLst>
                <a:path h="0" w="21221700">
                  <a:moveTo>
                    <a:pt x="0" y="0"/>
                  </a:moveTo>
                  <a:lnTo>
                    <a:pt x="21221700" y="0"/>
                  </a:lnTo>
                </a:path>
              </a:pathLst>
            </a:custGeom>
            <a:solidFill>
              <a:srgbClr val="CC0000"/>
            </a:solidFill>
          </p:spPr>
        </p:sp>
        <p:sp>
          <p:nvSpPr>
            <p:cNvPr name="Freeform 6" id="6"/>
            <p:cNvSpPr/>
            <p:nvPr/>
          </p:nvSpPr>
          <p:spPr>
            <a:xfrm flipH="false" flipV="false" rot="0">
              <a:off x="0" y="0"/>
              <a:ext cx="12433808" cy="238125"/>
            </a:xfrm>
            <a:custGeom>
              <a:avLst/>
              <a:gdLst/>
              <a:ahLst/>
              <a:cxnLst/>
              <a:rect r="r" b="b" t="t" l="l"/>
              <a:pathLst>
                <a:path h="238125" w="12433808">
                  <a:moveTo>
                    <a:pt x="9525" y="0"/>
                  </a:moveTo>
                  <a:lnTo>
                    <a:pt x="12424283" y="0"/>
                  </a:lnTo>
                  <a:cubicBezTo>
                    <a:pt x="12429489" y="0"/>
                    <a:pt x="12433808" y="4318"/>
                    <a:pt x="12433808" y="9525"/>
                  </a:cubicBezTo>
                  <a:lnTo>
                    <a:pt x="12433808" y="228600"/>
                  </a:lnTo>
                  <a:cubicBezTo>
                    <a:pt x="12433808" y="233807"/>
                    <a:pt x="12429489" y="238125"/>
                    <a:pt x="12424283"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424283" y="219075"/>
                  </a:lnTo>
                  <a:lnTo>
                    <a:pt x="12424283" y="228600"/>
                  </a:lnTo>
                  <a:lnTo>
                    <a:pt x="12414758" y="228600"/>
                  </a:lnTo>
                  <a:lnTo>
                    <a:pt x="12414758" y="9525"/>
                  </a:lnTo>
                  <a:lnTo>
                    <a:pt x="12424283" y="9525"/>
                  </a:lnTo>
                  <a:lnTo>
                    <a:pt x="12424283" y="19050"/>
                  </a:lnTo>
                  <a:lnTo>
                    <a:pt x="9525" y="19050"/>
                  </a:lnTo>
                  <a:close/>
                </a:path>
              </a:pathLst>
            </a:custGeom>
            <a:solidFill>
              <a:srgbClr val="CC0000"/>
            </a:solidFill>
          </p:spPr>
        </p:sp>
        <p:sp>
          <p:nvSpPr>
            <p:cNvPr name="Freeform 7" id="7"/>
            <p:cNvSpPr/>
            <p:nvPr/>
          </p:nvSpPr>
          <p:spPr>
            <a:xfrm flipH="false" flipV="false" rot="0">
              <a:off x="9525" y="0"/>
              <a:ext cx="21221700" cy="19050"/>
            </a:xfrm>
            <a:custGeom>
              <a:avLst/>
              <a:gdLst/>
              <a:ahLst/>
              <a:cxnLst/>
              <a:rect r="r" b="b" t="t" l="l"/>
              <a:pathLst>
                <a:path h="19050" w="21221700">
                  <a:moveTo>
                    <a:pt x="0" y="0"/>
                  </a:moveTo>
                  <a:lnTo>
                    <a:pt x="21221700" y="0"/>
                  </a:lnTo>
                  <a:lnTo>
                    <a:pt x="21221700" y="19050"/>
                  </a:lnTo>
                  <a:lnTo>
                    <a:pt x="0" y="19050"/>
                  </a:lnTo>
                  <a:close/>
                </a:path>
              </a:pathLst>
            </a:custGeom>
            <a:solidFill>
              <a:srgbClr val="CC0000"/>
            </a:solidFill>
          </p:spPr>
        </p:sp>
      </p:grpSp>
      <p:grpSp>
        <p:nvGrpSpPr>
          <p:cNvPr name="Group 8" id="8"/>
          <p:cNvGrpSpPr/>
          <p:nvPr/>
        </p:nvGrpSpPr>
        <p:grpSpPr>
          <a:xfrm rot="0">
            <a:off x="1216819" y="9255919"/>
            <a:ext cx="15854362" cy="4762"/>
            <a:chOff x="0" y="0"/>
            <a:chExt cx="21139150" cy="6350"/>
          </a:xfrm>
        </p:grpSpPr>
        <p:sp>
          <p:nvSpPr>
            <p:cNvPr name="Freeform 9" id="9"/>
            <p:cNvSpPr/>
            <p:nvPr/>
          </p:nvSpPr>
          <p:spPr>
            <a:xfrm flipH="false" flipV="false" rot="0">
              <a:off x="3175" y="0"/>
              <a:ext cx="21132800" cy="6350"/>
            </a:xfrm>
            <a:custGeom>
              <a:avLst/>
              <a:gdLst/>
              <a:ahLst/>
              <a:cxnLst/>
              <a:rect r="r" b="b" t="t" l="l"/>
              <a:pathLst>
                <a:path h="6350" w="21132800">
                  <a:moveTo>
                    <a:pt x="0" y="0"/>
                  </a:moveTo>
                  <a:lnTo>
                    <a:pt x="21132800" y="0"/>
                  </a:lnTo>
                  <a:lnTo>
                    <a:pt x="21132800" y="6350"/>
                  </a:lnTo>
                  <a:lnTo>
                    <a:pt x="0" y="6350"/>
                  </a:lnTo>
                  <a:close/>
                </a:path>
              </a:pathLst>
            </a:custGeom>
            <a:solidFill>
              <a:srgbClr val="CC0000"/>
            </a:solidFill>
          </p:spPr>
        </p:sp>
      </p:grpSp>
      <p:grpSp>
        <p:nvGrpSpPr>
          <p:cNvPr name="Group 10" id="10"/>
          <p:cNvGrpSpPr/>
          <p:nvPr/>
        </p:nvGrpSpPr>
        <p:grpSpPr>
          <a:xfrm rot="0">
            <a:off x="1149350" y="457201"/>
            <a:ext cx="16002000" cy="1824038"/>
            <a:chOff x="0" y="0"/>
            <a:chExt cx="21336000" cy="2432050"/>
          </a:xfrm>
        </p:grpSpPr>
        <p:sp>
          <p:nvSpPr>
            <p:cNvPr name="Freeform 11" id="11"/>
            <p:cNvSpPr/>
            <p:nvPr/>
          </p:nvSpPr>
          <p:spPr>
            <a:xfrm flipH="false" flipV="false" rot="0">
              <a:off x="0" y="0"/>
              <a:ext cx="21336000" cy="2432050"/>
            </a:xfrm>
            <a:custGeom>
              <a:avLst/>
              <a:gdLst/>
              <a:ahLst/>
              <a:cxnLst/>
              <a:rect r="r" b="b" t="t" l="l"/>
              <a:pathLst>
                <a:path h="2432050" w="21336000">
                  <a:moveTo>
                    <a:pt x="0" y="0"/>
                  </a:moveTo>
                  <a:lnTo>
                    <a:pt x="21336000" y="0"/>
                  </a:lnTo>
                  <a:lnTo>
                    <a:pt x="21336000" y="2432050"/>
                  </a:lnTo>
                  <a:lnTo>
                    <a:pt x="0" y="2432050"/>
                  </a:lnTo>
                  <a:close/>
                </a:path>
              </a:pathLst>
            </a:custGeom>
            <a:solidFill>
              <a:srgbClr val="000000">
                <a:alpha val="0"/>
              </a:srgbClr>
            </a:solidFill>
          </p:spPr>
        </p:sp>
        <p:sp>
          <p:nvSpPr>
            <p:cNvPr name="TextBox 12" id="12"/>
            <p:cNvSpPr txBox="true"/>
            <p:nvPr/>
          </p:nvSpPr>
          <p:spPr>
            <a:xfrm>
              <a:off x="0" y="-95250"/>
              <a:ext cx="21336000" cy="2527300"/>
            </a:xfrm>
            <a:prstGeom prst="rect">
              <a:avLst/>
            </a:prstGeom>
          </p:spPr>
          <p:txBody>
            <a:bodyPr anchor="b" rtlCol="false" tIns="0" lIns="0" bIns="0" rIns="0"/>
            <a:lstStyle/>
            <a:p>
              <a:pPr algn="ctr">
                <a:lnSpc>
                  <a:spcPts val="5759"/>
                </a:lnSpc>
              </a:pPr>
              <a:r>
                <a:rPr lang="en-US" sz="4800" b="true">
                  <a:solidFill>
                    <a:srgbClr val="FF0000"/>
                  </a:solidFill>
                  <a:latin typeface="Times New Roman MT Bold"/>
                  <a:ea typeface="Times New Roman MT Bold"/>
                  <a:cs typeface="Times New Roman MT Bold"/>
                  <a:sym typeface="Times New Roman MT Bold"/>
                </a:rPr>
                <a:t>PROBLEM STATEMENT </a:t>
              </a:r>
            </a:p>
          </p:txBody>
        </p:sp>
      </p:grpSp>
      <p:sp>
        <p:nvSpPr>
          <p:cNvPr name="TextBox 13" id="13"/>
          <p:cNvSpPr txBox="true"/>
          <p:nvPr/>
        </p:nvSpPr>
        <p:spPr>
          <a:xfrm rot="0">
            <a:off x="1240789" y="2777729"/>
            <a:ext cx="15819120" cy="5924550"/>
          </a:xfrm>
          <a:prstGeom prst="rect">
            <a:avLst/>
          </a:prstGeom>
        </p:spPr>
        <p:txBody>
          <a:bodyPr anchor="t" rtlCol="false" tIns="0" lIns="0" bIns="0" rIns="0">
            <a:spAutoFit/>
          </a:bodyPr>
          <a:lstStyle/>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Problem: Home LPG leaks, smoky buildup, open flame, and excessive kitchen heat commonly go unnoticed until it is too late, resulting in avoidable injuries, fatalities, and property damage in Indian households.</a:t>
            </a:r>
          </a:p>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Context gap: Typical household alarms are single use, threshold-only, and buzzer-based, providing no predictive analysis, remote sensing, or context aware nuisance alarm suppression during routine cooking.</a:t>
            </a:r>
          </a:p>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Technical necessity: A locally dependable multi sensor, network aware system that integrates gas, smoke, flame, and temperature signals, examines patterns, and provides timely, intelligible signals to citizens.</a:t>
            </a:r>
          </a:p>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Social need: Early detection reduces deaths, hospitalizations, and costs, facilitating safer use of LPG and enhancing confidence in clean cooking programs for urban and rural homes.</a:t>
            </a:r>
          </a:p>
          <a:p>
            <a:pPr algn="just" marL="604519" indent="-302260" lvl="1">
              <a:lnSpc>
                <a:spcPts val="3359"/>
              </a:lnSpc>
              <a:buFont typeface="Arial"/>
              <a:buChar char="•"/>
            </a:pPr>
            <a:r>
              <a:rPr lang="en-US" sz="2799">
                <a:solidFill>
                  <a:srgbClr val="000000"/>
                </a:solidFill>
                <a:latin typeface="Times New Roman MT"/>
                <a:ea typeface="Times New Roman MT"/>
                <a:cs typeface="Times New Roman MT"/>
                <a:sym typeface="Times New Roman MT"/>
              </a:rPr>
              <a:t>Feasible impact: A low cost, open, and flexible solution can be instantiated at scale, equipping families with active protection and facilitating eventual integration with certified shut-off solutions and smart home systems.</a:t>
            </a:r>
          </a:p>
        </p:txBody>
      </p:sp>
      <p:sp>
        <p:nvSpPr>
          <p:cNvPr name="TextBox 14" id="14"/>
          <p:cNvSpPr txBox="true"/>
          <p:nvPr/>
        </p:nvSpPr>
        <p:spPr>
          <a:xfrm rot="0">
            <a:off x="1310640" y="9413557"/>
            <a:ext cx="3779520" cy="266700"/>
          </a:xfrm>
          <a:prstGeom prst="rect">
            <a:avLst/>
          </a:prstGeom>
        </p:spPr>
        <p:txBody>
          <a:bodyPr anchor="t" rtlCol="false" tIns="0" lIns="0" bIns="0" rIns="0">
            <a:spAutoFit/>
          </a:bodyPr>
          <a:lstStyle/>
          <a:p>
            <a:pPr algn="l">
              <a:lnSpc>
                <a:spcPts val="2160"/>
              </a:lnSpc>
            </a:pPr>
            <a:r>
              <a:rPr lang="en-US" sz="1800">
                <a:solidFill>
                  <a:srgbClr val="000000"/>
                </a:solidFill>
                <a:latin typeface="Verdana Pro"/>
                <a:ea typeface="Verdana Pro"/>
                <a:cs typeface="Verdana Pro"/>
                <a:sym typeface="Verdana Pro"/>
              </a:rPr>
              <a:t>Second</a:t>
            </a:r>
            <a:r>
              <a:rPr lang="en-US" sz="1800">
                <a:solidFill>
                  <a:srgbClr val="000000"/>
                </a:solidFill>
                <a:latin typeface="Verdana Pro"/>
                <a:ea typeface="Verdana Pro"/>
                <a:cs typeface="Verdana Pro"/>
                <a:sym typeface="Verdana Pro"/>
              </a:rPr>
              <a:t> Review</a:t>
            </a:r>
          </a:p>
        </p:txBody>
      </p:sp>
      <p:sp>
        <p:nvSpPr>
          <p:cNvPr name="TextBox 15" id="15"/>
          <p:cNvSpPr txBox="true"/>
          <p:nvPr/>
        </p:nvSpPr>
        <p:spPr>
          <a:xfrm rot="0">
            <a:off x="6339840" y="9413557"/>
            <a:ext cx="5608320" cy="622935"/>
          </a:xfrm>
          <a:prstGeom prst="rect">
            <a:avLst/>
          </a:prstGeom>
        </p:spPr>
        <p:txBody>
          <a:bodyPr anchor="t" rtlCol="false" tIns="0" lIns="0" bIns="0" rIns="0">
            <a:spAutoFit/>
          </a:bodyPr>
          <a:lstStyle/>
          <a:p>
            <a:pPr algn="ctr">
              <a:lnSpc>
                <a:spcPts val="2160"/>
              </a:lnSpc>
            </a:pPr>
            <a:r>
              <a:rPr lang="en-US" sz="1800">
                <a:solidFill>
                  <a:srgbClr val="000000"/>
                </a:solidFill>
                <a:latin typeface="Verdana Pro"/>
                <a:ea typeface="Verdana Pro"/>
                <a:cs typeface="Verdana Pro"/>
                <a:sym typeface="Verdana Pro"/>
              </a:rPr>
              <a:t>Department of Computer Science and Engineering</a:t>
            </a:r>
          </a:p>
        </p:txBody>
      </p:sp>
      <p:sp>
        <p:nvSpPr>
          <p:cNvPr name="TextBox 16" id="16"/>
          <p:cNvSpPr txBox="true"/>
          <p:nvPr/>
        </p:nvSpPr>
        <p:spPr>
          <a:xfrm rot="0">
            <a:off x="13197840" y="9413557"/>
            <a:ext cx="3779520" cy="622935"/>
          </a:xfrm>
          <a:prstGeom prst="rect">
            <a:avLst/>
          </a:prstGeom>
        </p:spPr>
        <p:txBody>
          <a:bodyPr anchor="t" rtlCol="false" tIns="0" lIns="0" bIns="0" rIns="0">
            <a:spAutoFit/>
          </a:bodyPr>
          <a:lstStyle/>
          <a:p>
            <a:pPr algn="r">
              <a:lnSpc>
                <a:spcPts val="2160"/>
              </a:lnSpc>
            </a:pPr>
            <a:r>
              <a:rPr lang="en-US" sz="1800">
                <a:solidFill>
                  <a:srgbClr val="000000"/>
                </a:solidFill>
                <a:latin typeface="Verdana Pro"/>
                <a:ea typeface="Verdana Pro"/>
                <a:cs typeface="Verdana Pro"/>
                <a:sym typeface="Verdana Pro"/>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212056" y="2343152"/>
            <a:ext cx="15930564" cy="178593"/>
            <a:chOff x="0" y="0"/>
            <a:chExt cx="21240752" cy="238124"/>
          </a:xfrm>
        </p:grpSpPr>
        <p:sp>
          <p:nvSpPr>
            <p:cNvPr name="Freeform 4" id="4"/>
            <p:cNvSpPr/>
            <p:nvPr/>
          </p:nvSpPr>
          <p:spPr>
            <a:xfrm flipH="false" flipV="false" rot="0">
              <a:off x="9525" y="9525"/>
              <a:ext cx="12414758" cy="219075"/>
            </a:xfrm>
            <a:custGeom>
              <a:avLst/>
              <a:gdLst/>
              <a:ahLst/>
              <a:cxnLst/>
              <a:rect r="r" b="b" t="t" l="l"/>
              <a:pathLst>
                <a:path h="219075" w="12414758">
                  <a:moveTo>
                    <a:pt x="0" y="0"/>
                  </a:moveTo>
                  <a:lnTo>
                    <a:pt x="12414758" y="0"/>
                  </a:lnTo>
                  <a:lnTo>
                    <a:pt x="12414758" y="219075"/>
                  </a:lnTo>
                  <a:lnTo>
                    <a:pt x="0" y="219075"/>
                  </a:lnTo>
                  <a:lnTo>
                    <a:pt x="0" y="0"/>
                  </a:lnTo>
                  <a:close/>
                </a:path>
              </a:pathLst>
            </a:custGeom>
            <a:solidFill>
              <a:srgbClr val="CC0000"/>
            </a:solidFill>
          </p:spPr>
        </p:sp>
        <p:sp>
          <p:nvSpPr>
            <p:cNvPr name="Freeform 5" id="5"/>
            <p:cNvSpPr/>
            <p:nvPr/>
          </p:nvSpPr>
          <p:spPr>
            <a:xfrm flipH="false" flipV="false" rot="0">
              <a:off x="9525" y="9525"/>
              <a:ext cx="21221700" cy="0"/>
            </a:xfrm>
            <a:custGeom>
              <a:avLst/>
              <a:gdLst/>
              <a:ahLst/>
              <a:cxnLst/>
              <a:rect r="r" b="b" t="t" l="l"/>
              <a:pathLst>
                <a:path h="0" w="21221700">
                  <a:moveTo>
                    <a:pt x="0" y="0"/>
                  </a:moveTo>
                  <a:lnTo>
                    <a:pt x="21221700" y="0"/>
                  </a:lnTo>
                </a:path>
              </a:pathLst>
            </a:custGeom>
            <a:solidFill>
              <a:srgbClr val="CC0000"/>
            </a:solidFill>
          </p:spPr>
        </p:sp>
        <p:sp>
          <p:nvSpPr>
            <p:cNvPr name="Freeform 6" id="6"/>
            <p:cNvSpPr/>
            <p:nvPr/>
          </p:nvSpPr>
          <p:spPr>
            <a:xfrm flipH="false" flipV="false" rot="0">
              <a:off x="0" y="0"/>
              <a:ext cx="12433808" cy="238125"/>
            </a:xfrm>
            <a:custGeom>
              <a:avLst/>
              <a:gdLst/>
              <a:ahLst/>
              <a:cxnLst/>
              <a:rect r="r" b="b" t="t" l="l"/>
              <a:pathLst>
                <a:path h="238125" w="12433808">
                  <a:moveTo>
                    <a:pt x="9525" y="0"/>
                  </a:moveTo>
                  <a:lnTo>
                    <a:pt x="12424283" y="0"/>
                  </a:lnTo>
                  <a:cubicBezTo>
                    <a:pt x="12429489" y="0"/>
                    <a:pt x="12433808" y="4318"/>
                    <a:pt x="12433808" y="9525"/>
                  </a:cubicBezTo>
                  <a:lnTo>
                    <a:pt x="12433808" y="228600"/>
                  </a:lnTo>
                  <a:cubicBezTo>
                    <a:pt x="12433808" y="233807"/>
                    <a:pt x="12429489" y="238125"/>
                    <a:pt x="12424283"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424283" y="219075"/>
                  </a:lnTo>
                  <a:lnTo>
                    <a:pt x="12424283" y="228600"/>
                  </a:lnTo>
                  <a:lnTo>
                    <a:pt x="12414758" y="228600"/>
                  </a:lnTo>
                  <a:lnTo>
                    <a:pt x="12414758" y="9525"/>
                  </a:lnTo>
                  <a:lnTo>
                    <a:pt x="12424283" y="9525"/>
                  </a:lnTo>
                  <a:lnTo>
                    <a:pt x="12424283" y="19050"/>
                  </a:lnTo>
                  <a:lnTo>
                    <a:pt x="9525" y="19050"/>
                  </a:lnTo>
                  <a:close/>
                </a:path>
              </a:pathLst>
            </a:custGeom>
            <a:solidFill>
              <a:srgbClr val="CC0000"/>
            </a:solidFill>
          </p:spPr>
        </p:sp>
        <p:sp>
          <p:nvSpPr>
            <p:cNvPr name="Freeform 7" id="7"/>
            <p:cNvSpPr/>
            <p:nvPr/>
          </p:nvSpPr>
          <p:spPr>
            <a:xfrm flipH="false" flipV="false" rot="0">
              <a:off x="9525" y="0"/>
              <a:ext cx="21221700" cy="19050"/>
            </a:xfrm>
            <a:custGeom>
              <a:avLst/>
              <a:gdLst/>
              <a:ahLst/>
              <a:cxnLst/>
              <a:rect r="r" b="b" t="t" l="l"/>
              <a:pathLst>
                <a:path h="19050" w="21221700">
                  <a:moveTo>
                    <a:pt x="0" y="0"/>
                  </a:moveTo>
                  <a:lnTo>
                    <a:pt x="21221700" y="0"/>
                  </a:lnTo>
                  <a:lnTo>
                    <a:pt x="21221700" y="19050"/>
                  </a:lnTo>
                  <a:lnTo>
                    <a:pt x="0" y="19050"/>
                  </a:lnTo>
                  <a:close/>
                </a:path>
              </a:pathLst>
            </a:custGeom>
            <a:solidFill>
              <a:srgbClr val="CC0000"/>
            </a:solidFill>
          </p:spPr>
        </p:sp>
      </p:grpSp>
      <p:grpSp>
        <p:nvGrpSpPr>
          <p:cNvPr name="Group 8" id="8"/>
          <p:cNvGrpSpPr/>
          <p:nvPr/>
        </p:nvGrpSpPr>
        <p:grpSpPr>
          <a:xfrm rot="0">
            <a:off x="1216819" y="9255919"/>
            <a:ext cx="15854362" cy="4762"/>
            <a:chOff x="0" y="0"/>
            <a:chExt cx="21139150" cy="6350"/>
          </a:xfrm>
        </p:grpSpPr>
        <p:sp>
          <p:nvSpPr>
            <p:cNvPr name="Freeform 9" id="9"/>
            <p:cNvSpPr/>
            <p:nvPr/>
          </p:nvSpPr>
          <p:spPr>
            <a:xfrm flipH="false" flipV="false" rot="0">
              <a:off x="3175" y="0"/>
              <a:ext cx="21132800" cy="6350"/>
            </a:xfrm>
            <a:custGeom>
              <a:avLst/>
              <a:gdLst/>
              <a:ahLst/>
              <a:cxnLst/>
              <a:rect r="r" b="b" t="t" l="l"/>
              <a:pathLst>
                <a:path h="6350" w="21132800">
                  <a:moveTo>
                    <a:pt x="0" y="0"/>
                  </a:moveTo>
                  <a:lnTo>
                    <a:pt x="21132800" y="0"/>
                  </a:lnTo>
                  <a:lnTo>
                    <a:pt x="21132800" y="6350"/>
                  </a:lnTo>
                  <a:lnTo>
                    <a:pt x="0" y="6350"/>
                  </a:lnTo>
                  <a:close/>
                </a:path>
              </a:pathLst>
            </a:custGeom>
            <a:solidFill>
              <a:srgbClr val="CC0000"/>
            </a:solidFill>
          </p:spPr>
        </p:sp>
      </p:grpSp>
      <p:grpSp>
        <p:nvGrpSpPr>
          <p:cNvPr name="Group 10" id="10"/>
          <p:cNvGrpSpPr/>
          <p:nvPr/>
        </p:nvGrpSpPr>
        <p:grpSpPr>
          <a:xfrm rot="0">
            <a:off x="1149350" y="457202"/>
            <a:ext cx="16002000" cy="1824038"/>
            <a:chOff x="0" y="0"/>
            <a:chExt cx="21336000" cy="2432050"/>
          </a:xfrm>
        </p:grpSpPr>
        <p:sp>
          <p:nvSpPr>
            <p:cNvPr name="Freeform 11" id="11"/>
            <p:cNvSpPr/>
            <p:nvPr/>
          </p:nvSpPr>
          <p:spPr>
            <a:xfrm flipH="false" flipV="false" rot="0">
              <a:off x="0" y="0"/>
              <a:ext cx="21336000" cy="2432050"/>
            </a:xfrm>
            <a:custGeom>
              <a:avLst/>
              <a:gdLst/>
              <a:ahLst/>
              <a:cxnLst/>
              <a:rect r="r" b="b" t="t" l="l"/>
              <a:pathLst>
                <a:path h="2432050" w="21336000">
                  <a:moveTo>
                    <a:pt x="0" y="0"/>
                  </a:moveTo>
                  <a:lnTo>
                    <a:pt x="21336000" y="0"/>
                  </a:lnTo>
                  <a:lnTo>
                    <a:pt x="21336000" y="2432050"/>
                  </a:lnTo>
                  <a:lnTo>
                    <a:pt x="0" y="2432050"/>
                  </a:lnTo>
                  <a:close/>
                </a:path>
              </a:pathLst>
            </a:custGeom>
            <a:solidFill>
              <a:srgbClr val="000000">
                <a:alpha val="0"/>
              </a:srgbClr>
            </a:solidFill>
          </p:spPr>
        </p:sp>
        <p:sp>
          <p:nvSpPr>
            <p:cNvPr name="TextBox 12" id="12"/>
            <p:cNvSpPr txBox="true"/>
            <p:nvPr/>
          </p:nvSpPr>
          <p:spPr>
            <a:xfrm>
              <a:off x="0" y="-95250"/>
              <a:ext cx="21336000" cy="2527300"/>
            </a:xfrm>
            <a:prstGeom prst="rect">
              <a:avLst/>
            </a:prstGeom>
          </p:spPr>
          <p:txBody>
            <a:bodyPr anchor="b" rtlCol="false" tIns="0" lIns="0" bIns="0" rIns="0"/>
            <a:lstStyle/>
            <a:p>
              <a:pPr algn="ctr">
                <a:lnSpc>
                  <a:spcPts val="5759"/>
                </a:lnSpc>
              </a:pPr>
              <a:r>
                <a:rPr lang="en-US" sz="4800" b="true">
                  <a:solidFill>
                    <a:srgbClr val="FF0000"/>
                  </a:solidFill>
                  <a:latin typeface="Times New Roman MT Bold"/>
                  <a:ea typeface="Times New Roman MT Bold"/>
                  <a:cs typeface="Times New Roman MT Bold"/>
                  <a:sym typeface="Times New Roman MT Bold"/>
                </a:rPr>
                <a:t>OBJECTIVES AND SCOPE</a:t>
              </a:r>
            </a:p>
          </p:txBody>
        </p:sp>
      </p:grpSp>
      <p:sp>
        <p:nvSpPr>
          <p:cNvPr name="TextBox 13" id="13"/>
          <p:cNvSpPr txBox="true"/>
          <p:nvPr/>
        </p:nvSpPr>
        <p:spPr>
          <a:xfrm rot="0">
            <a:off x="1240789" y="3036025"/>
            <a:ext cx="15819120" cy="5705729"/>
          </a:xfrm>
          <a:prstGeom prst="rect">
            <a:avLst/>
          </a:prstGeom>
        </p:spPr>
        <p:txBody>
          <a:bodyPr anchor="t" rtlCol="false" tIns="0" lIns="0" bIns="0" rIns="0">
            <a:spAutoFit/>
          </a:bodyPr>
          <a:lstStyle/>
          <a:p>
            <a:pPr algn="just">
              <a:lnSpc>
                <a:spcPts val="3807"/>
              </a:lnSpc>
            </a:pPr>
            <a:r>
              <a:rPr lang="en-US" sz="2799">
                <a:solidFill>
                  <a:srgbClr val="000000"/>
                </a:solidFill>
                <a:latin typeface="Verdana Pro"/>
                <a:ea typeface="Verdana Pro"/>
                <a:cs typeface="Verdana Pro"/>
                <a:sym typeface="Verdana Pro"/>
              </a:rPr>
              <a:t>Existing solutions on the market for gas and fire detection include commercial LPG gas leak detectors, such as the TS12CLR-EX-LEL, which off</a:t>
            </a:r>
            <a:r>
              <a:rPr lang="en-US" sz="2799">
                <a:solidFill>
                  <a:srgbClr val="000000"/>
                </a:solidFill>
                <a:latin typeface="Verdana Pro"/>
                <a:ea typeface="Verdana Pro"/>
                <a:cs typeface="Verdana Pro"/>
                <a:sym typeface="Verdana Pro"/>
              </a:rPr>
              <a:t>er high-quality flameproof hardware and threshold alarms. However, these solutions are costly and lack user-friendly interfaces or predictive intelligence. Consumer-based Wi-Fi gas alarms, such as the Tuya SmartLife and Sonoff detectors, have remote notifications and limited connectivity but incur high rates of false alarms due to a lack of multisensor fusion or machine learning context awareness. Interlinked smoke and carbon monoxide detectors for residential use successfully minimize false alarms for smoke, but fail to include LPG leak detection or full kitchen hazard monitoring. These shortcomings leave a space for a cost-effective, multi-sensor, predictive, and simple to use solution specific to Indian homes, which MK Sentinel can meet by integrating multiple sensors, ML based risk prediction, and a real-time dashboard with multilingual alerts.</a:t>
            </a:r>
          </a:p>
        </p:txBody>
      </p:sp>
      <p:sp>
        <p:nvSpPr>
          <p:cNvPr name="TextBox 14" id="14"/>
          <p:cNvSpPr txBox="true"/>
          <p:nvPr/>
        </p:nvSpPr>
        <p:spPr>
          <a:xfrm rot="0">
            <a:off x="1310640" y="9413557"/>
            <a:ext cx="3779520" cy="266700"/>
          </a:xfrm>
          <a:prstGeom prst="rect">
            <a:avLst/>
          </a:prstGeom>
        </p:spPr>
        <p:txBody>
          <a:bodyPr anchor="t" rtlCol="false" tIns="0" lIns="0" bIns="0" rIns="0">
            <a:spAutoFit/>
          </a:bodyPr>
          <a:lstStyle/>
          <a:p>
            <a:pPr algn="l">
              <a:lnSpc>
                <a:spcPts val="2160"/>
              </a:lnSpc>
            </a:pPr>
            <a:r>
              <a:rPr lang="en-US" sz="1800">
                <a:solidFill>
                  <a:srgbClr val="000000"/>
                </a:solidFill>
                <a:latin typeface="Verdana Pro"/>
                <a:ea typeface="Verdana Pro"/>
                <a:cs typeface="Verdana Pro"/>
                <a:sym typeface="Verdana Pro"/>
              </a:rPr>
              <a:t>Second</a:t>
            </a:r>
            <a:r>
              <a:rPr lang="en-US" sz="1800">
                <a:solidFill>
                  <a:srgbClr val="000000"/>
                </a:solidFill>
                <a:latin typeface="Verdana Pro"/>
                <a:ea typeface="Verdana Pro"/>
                <a:cs typeface="Verdana Pro"/>
                <a:sym typeface="Verdana Pro"/>
              </a:rPr>
              <a:t> Review</a:t>
            </a:r>
          </a:p>
        </p:txBody>
      </p:sp>
      <p:sp>
        <p:nvSpPr>
          <p:cNvPr name="TextBox 15" id="15"/>
          <p:cNvSpPr txBox="true"/>
          <p:nvPr/>
        </p:nvSpPr>
        <p:spPr>
          <a:xfrm rot="0">
            <a:off x="6339840" y="9413557"/>
            <a:ext cx="5608320" cy="622935"/>
          </a:xfrm>
          <a:prstGeom prst="rect">
            <a:avLst/>
          </a:prstGeom>
        </p:spPr>
        <p:txBody>
          <a:bodyPr anchor="t" rtlCol="false" tIns="0" lIns="0" bIns="0" rIns="0">
            <a:spAutoFit/>
          </a:bodyPr>
          <a:lstStyle/>
          <a:p>
            <a:pPr algn="ctr">
              <a:lnSpc>
                <a:spcPts val="2160"/>
              </a:lnSpc>
            </a:pPr>
            <a:r>
              <a:rPr lang="en-US" sz="1800">
                <a:solidFill>
                  <a:srgbClr val="000000"/>
                </a:solidFill>
                <a:latin typeface="Verdana Pro"/>
                <a:ea typeface="Verdana Pro"/>
                <a:cs typeface="Verdana Pro"/>
                <a:sym typeface="Verdana Pro"/>
              </a:rPr>
              <a:t>Department of Computer Science and Engineering</a:t>
            </a:r>
          </a:p>
        </p:txBody>
      </p:sp>
      <p:sp>
        <p:nvSpPr>
          <p:cNvPr name="TextBox 16" id="16"/>
          <p:cNvSpPr txBox="true"/>
          <p:nvPr/>
        </p:nvSpPr>
        <p:spPr>
          <a:xfrm rot="0">
            <a:off x="13197840" y="9413557"/>
            <a:ext cx="3779520" cy="622935"/>
          </a:xfrm>
          <a:prstGeom prst="rect">
            <a:avLst/>
          </a:prstGeom>
        </p:spPr>
        <p:txBody>
          <a:bodyPr anchor="t" rtlCol="false" tIns="0" lIns="0" bIns="0" rIns="0">
            <a:spAutoFit/>
          </a:bodyPr>
          <a:lstStyle/>
          <a:p>
            <a:pPr algn="r">
              <a:lnSpc>
                <a:spcPts val="2160"/>
              </a:lnSpc>
            </a:pPr>
            <a:r>
              <a:rPr lang="en-US" sz="1800">
                <a:solidFill>
                  <a:srgbClr val="000000"/>
                </a:solidFill>
                <a:latin typeface="Verdana Pro"/>
                <a:ea typeface="Verdana Pro"/>
                <a:cs typeface="Verdana Pro"/>
                <a:sym typeface="Verdana Pro"/>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212056" y="2343152"/>
            <a:ext cx="15930564" cy="178593"/>
            <a:chOff x="0" y="0"/>
            <a:chExt cx="21240752" cy="238124"/>
          </a:xfrm>
        </p:grpSpPr>
        <p:sp>
          <p:nvSpPr>
            <p:cNvPr name="Freeform 4" id="4"/>
            <p:cNvSpPr/>
            <p:nvPr/>
          </p:nvSpPr>
          <p:spPr>
            <a:xfrm flipH="false" flipV="false" rot="0">
              <a:off x="9525" y="9525"/>
              <a:ext cx="12414758" cy="219075"/>
            </a:xfrm>
            <a:custGeom>
              <a:avLst/>
              <a:gdLst/>
              <a:ahLst/>
              <a:cxnLst/>
              <a:rect r="r" b="b" t="t" l="l"/>
              <a:pathLst>
                <a:path h="219075" w="12414758">
                  <a:moveTo>
                    <a:pt x="0" y="0"/>
                  </a:moveTo>
                  <a:lnTo>
                    <a:pt x="12414758" y="0"/>
                  </a:lnTo>
                  <a:lnTo>
                    <a:pt x="12414758" y="219075"/>
                  </a:lnTo>
                  <a:lnTo>
                    <a:pt x="0" y="219075"/>
                  </a:lnTo>
                  <a:lnTo>
                    <a:pt x="0" y="0"/>
                  </a:lnTo>
                  <a:close/>
                </a:path>
              </a:pathLst>
            </a:custGeom>
            <a:solidFill>
              <a:srgbClr val="CC0000"/>
            </a:solidFill>
          </p:spPr>
        </p:sp>
        <p:sp>
          <p:nvSpPr>
            <p:cNvPr name="Freeform 5" id="5"/>
            <p:cNvSpPr/>
            <p:nvPr/>
          </p:nvSpPr>
          <p:spPr>
            <a:xfrm flipH="false" flipV="false" rot="0">
              <a:off x="9525" y="9525"/>
              <a:ext cx="21221700" cy="0"/>
            </a:xfrm>
            <a:custGeom>
              <a:avLst/>
              <a:gdLst/>
              <a:ahLst/>
              <a:cxnLst/>
              <a:rect r="r" b="b" t="t" l="l"/>
              <a:pathLst>
                <a:path h="0" w="21221700">
                  <a:moveTo>
                    <a:pt x="0" y="0"/>
                  </a:moveTo>
                  <a:lnTo>
                    <a:pt x="21221700" y="0"/>
                  </a:lnTo>
                </a:path>
              </a:pathLst>
            </a:custGeom>
            <a:solidFill>
              <a:srgbClr val="CC0000"/>
            </a:solidFill>
          </p:spPr>
        </p:sp>
        <p:sp>
          <p:nvSpPr>
            <p:cNvPr name="Freeform 6" id="6"/>
            <p:cNvSpPr/>
            <p:nvPr/>
          </p:nvSpPr>
          <p:spPr>
            <a:xfrm flipH="false" flipV="false" rot="0">
              <a:off x="0" y="0"/>
              <a:ext cx="12433808" cy="238125"/>
            </a:xfrm>
            <a:custGeom>
              <a:avLst/>
              <a:gdLst/>
              <a:ahLst/>
              <a:cxnLst/>
              <a:rect r="r" b="b" t="t" l="l"/>
              <a:pathLst>
                <a:path h="238125" w="12433808">
                  <a:moveTo>
                    <a:pt x="9525" y="0"/>
                  </a:moveTo>
                  <a:lnTo>
                    <a:pt x="12424283" y="0"/>
                  </a:lnTo>
                  <a:cubicBezTo>
                    <a:pt x="12429489" y="0"/>
                    <a:pt x="12433808" y="4318"/>
                    <a:pt x="12433808" y="9525"/>
                  </a:cubicBezTo>
                  <a:lnTo>
                    <a:pt x="12433808" y="228600"/>
                  </a:lnTo>
                  <a:cubicBezTo>
                    <a:pt x="12433808" y="233807"/>
                    <a:pt x="12429489" y="238125"/>
                    <a:pt x="12424283"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424283" y="219075"/>
                  </a:lnTo>
                  <a:lnTo>
                    <a:pt x="12424283" y="228600"/>
                  </a:lnTo>
                  <a:lnTo>
                    <a:pt x="12414758" y="228600"/>
                  </a:lnTo>
                  <a:lnTo>
                    <a:pt x="12414758" y="9525"/>
                  </a:lnTo>
                  <a:lnTo>
                    <a:pt x="12424283" y="9525"/>
                  </a:lnTo>
                  <a:lnTo>
                    <a:pt x="12424283" y="19050"/>
                  </a:lnTo>
                  <a:lnTo>
                    <a:pt x="9525" y="19050"/>
                  </a:lnTo>
                  <a:close/>
                </a:path>
              </a:pathLst>
            </a:custGeom>
            <a:solidFill>
              <a:srgbClr val="CC0000"/>
            </a:solidFill>
          </p:spPr>
        </p:sp>
        <p:sp>
          <p:nvSpPr>
            <p:cNvPr name="Freeform 7" id="7"/>
            <p:cNvSpPr/>
            <p:nvPr/>
          </p:nvSpPr>
          <p:spPr>
            <a:xfrm flipH="false" flipV="false" rot="0">
              <a:off x="9525" y="0"/>
              <a:ext cx="21221700" cy="19050"/>
            </a:xfrm>
            <a:custGeom>
              <a:avLst/>
              <a:gdLst/>
              <a:ahLst/>
              <a:cxnLst/>
              <a:rect r="r" b="b" t="t" l="l"/>
              <a:pathLst>
                <a:path h="19050" w="21221700">
                  <a:moveTo>
                    <a:pt x="0" y="0"/>
                  </a:moveTo>
                  <a:lnTo>
                    <a:pt x="21221700" y="0"/>
                  </a:lnTo>
                  <a:lnTo>
                    <a:pt x="21221700" y="19050"/>
                  </a:lnTo>
                  <a:lnTo>
                    <a:pt x="0" y="19050"/>
                  </a:lnTo>
                  <a:close/>
                </a:path>
              </a:pathLst>
            </a:custGeom>
            <a:solidFill>
              <a:srgbClr val="CC0000"/>
            </a:solidFill>
          </p:spPr>
        </p:sp>
      </p:grpSp>
      <p:grpSp>
        <p:nvGrpSpPr>
          <p:cNvPr name="Group 8" id="8"/>
          <p:cNvGrpSpPr/>
          <p:nvPr/>
        </p:nvGrpSpPr>
        <p:grpSpPr>
          <a:xfrm rot="0">
            <a:off x="1216819" y="9255919"/>
            <a:ext cx="15854362" cy="4762"/>
            <a:chOff x="0" y="0"/>
            <a:chExt cx="21139150" cy="6350"/>
          </a:xfrm>
        </p:grpSpPr>
        <p:sp>
          <p:nvSpPr>
            <p:cNvPr name="Freeform 9" id="9"/>
            <p:cNvSpPr/>
            <p:nvPr/>
          </p:nvSpPr>
          <p:spPr>
            <a:xfrm flipH="false" flipV="false" rot="0">
              <a:off x="3175" y="0"/>
              <a:ext cx="21132800" cy="6350"/>
            </a:xfrm>
            <a:custGeom>
              <a:avLst/>
              <a:gdLst/>
              <a:ahLst/>
              <a:cxnLst/>
              <a:rect r="r" b="b" t="t" l="l"/>
              <a:pathLst>
                <a:path h="6350" w="21132800">
                  <a:moveTo>
                    <a:pt x="0" y="0"/>
                  </a:moveTo>
                  <a:lnTo>
                    <a:pt x="21132800" y="0"/>
                  </a:lnTo>
                  <a:lnTo>
                    <a:pt x="21132800" y="6350"/>
                  </a:lnTo>
                  <a:lnTo>
                    <a:pt x="0" y="6350"/>
                  </a:lnTo>
                  <a:close/>
                </a:path>
              </a:pathLst>
            </a:custGeom>
            <a:solidFill>
              <a:srgbClr val="CC0000"/>
            </a:solidFill>
          </p:spPr>
        </p:sp>
      </p:grpSp>
      <p:grpSp>
        <p:nvGrpSpPr>
          <p:cNvPr name="Group 10" id="10"/>
          <p:cNvGrpSpPr/>
          <p:nvPr/>
        </p:nvGrpSpPr>
        <p:grpSpPr>
          <a:xfrm rot="0">
            <a:off x="1149350" y="457201"/>
            <a:ext cx="16002000" cy="1824038"/>
            <a:chOff x="0" y="0"/>
            <a:chExt cx="21336000" cy="2432050"/>
          </a:xfrm>
        </p:grpSpPr>
        <p:sp>
          <p:nvSpPr>
            <p:cNvPr name="Freeform 11" id="11"/>
            <p:cNvSpPr/>
            <p:nvPr/>
          </p:nvSpPr>
          <p:spPr>
            <a:xfrm flipH="false" flipV="false" rot="0">
              <a:off x="0" y="0"/>
              <a:ext cx="21336000" cy="2432050"/>
            </a:xfrm>
            <a:custGeom>
              <a:avLst/>
              <a:gdLst/>
              <a:ahLst/>
              <a:cxnLst/>
              <a:rect r="r" b="b" t="t" l="l"/>
              <a:pathLst>
                <a:path h="2432050" w="21336000">
                  <a:moveTo>
                    <a:pt x="0" y="0"/>
                  </a:moveTo>
                  <a:lnTo>
                    <a:pt x="21336000" y="0"/>
                  </a:lnTo>
                  <a:lnTo>
                    <a:pt x="21336000" y="2432050"/>
                  </a:lnTo>
                  <a:lnTo>
                    <a:pt x="0" y="2432050"/>
                  </a:lnTo>
                  <a:close/>
                </a:path>
              </a:pathLst>
            </a:custGeom>
            <a:solidFill>
              <a:srgbClr val="000000">
                <a:alpha val="0"/>
              </a:srgbClr>
            </a:solidFill>
          </p:spPr>
        </p:sp>
        <p:sp>
          <p:nvSpPr>
            <p:cNvPr name="TextBox 12" id="12"/>
            <p:cNvSpPr txBox="true"/>
            <p:nvPr/>
          </p:nvSpPr>
          <p:spPr>
            <a:xfrm>
              <a:off x="0" y="-95250"/>
              <a:ext cx="21336000" cy="2527300"/>
            </a:xfrm>
            <a:prstGeom prst="rect">
              <a:avLst/>
            </a:prstGeom>
          </p:spPr>
          <p:txBody>
            <a:bodyPr anchor="b" rtlCol="false" tIns="0" lIns="0" bIns="0" rIns="0"/>
            <a:lstStyle/>
            <a:p>
              <a:pPr algn="ctr">
                <a:lnSpc>
                  <a:spcPts val="5759"/>
                </a:lnSpc>
              </a:pPr>
              <a:r>
                <a:rPr lang="en-US" sz="4800" b="true">
                  <a:solidFill>
                    <a:srgbClr val="FF0000"/>
                  </a:solidFill>
                  <a:latin typeface="Times New Roman MT Bold"/>
                  <a:ea typeface="Times New Roman MT Bold"/>
                  <a:cs typeface="Times New Roman MT Bold"/>
                  <a:sym typeface="Times New Roman MT Bold"/>
                </a:rPr>
                <a:t>System Architecture</a:t>
              </a:r>
            </a:p>
          </p:txBody>
        </p:sp>
      </p:grpSp>
      <p:sp>
        <p:nvSpPr>
          <p:cNvPr name="Freeform 13" id="13"/>
          <p:cNvSpPr/>
          <p:nvPr/>
        </p:nvSpPr>
        <p:spPr>
          <a:xfrm flipH="false" flipV="false" rot="0">
            <a:off x="1939746" y="2764943"/>
            <a:ext cx="14475184" cy="6495739"/>
          </a:xfrm>
          <a:custGeom>
            <a:avLst/>
            <a:gdLst/>
            <a:ahLst/>
            <a:cxnLst/>
            <a:rect r="r" b="b" t="t" l="l"/>
            <a:pathLst>
              <a:path h="6495739" w="14475184">
                <a:moveTo>
                  <a:pt x="0" y="0"/>
                </a:moveTo>
                <a:lnTo>
                  <a:pt x="14475184" y="0"/>
                </a:lnTo>
                <a:lnTo>
                  <a:pt x="14475184" y="6495738"/>
                </a:lnTo>
                <a:lnTo>
                  <a:pt x="0" y="6495738"/>
                </a:lnTo>
                <a:lnTo>
                  <a:pt x="0" y="0"/>
                </a:lnTo>
                <a:close/>
              </a:path>
            </a:pathLst>
          </a:custGeom>
          <a:blipFill>
            <a:blip r:embed="rId3"/>
            <a:stretch>
              <a:fillRect l="0" t="0" r="0" b="0"/>
            </a:stretch>
          </a:blipFill>
        </p:spPr>
      </p:sp>
      <p:sp>
        <p:nvSpPr>
          <p:cNvPr name="TextBox 14" id="14"/>
          <p:cNvSpPr txBox="true"/>
          <p:nvPr/>
        </p:nvSpPr>
        <p:spPr>
          <a:xfrm rot="0">
            <a:off x="1310640" y="9413557"/>
            <a:ext cx="3779520" cy="266700"/>
          </a:xfrm>
          <a:prstGeom prst="rect">
            <a:avLst/>
          </a:prstGeom>
        </p:spPr>
        <p:txBody>
          <a:bodyPr anchor="t" rtlCol="false" tIns="0" lIns="0" bIns="0" rIns="0">
            <a:spAutoFit/>
          </a:bodyPr>
          <a:lstStyle/>
          <a:p>
            <a:pPr algn="l">
              <a:lnSpc>
                <a:spcPts val="2160"/>
              </a:lnSpc>
            </a:pPr>
            <a:r>
              <a:rPr lang="en-US" sz="1800">
                <a:solidFill>
                  <a:srgbClr val="000000"/>
                </a:solidFill>
                <a:latin typeface="Verdana Pro"/>
                <a:ea typeface="Verdana Pro"/>
                <a:cs typeface="Verdana Pro"/>
                <a:sym typeface="Verdana Pro"/>
              </a:rPr>
              <a:t>Second</a:t>
            </a:r>
            <a:r>
              <a:rPr lang="en-US" sz="1800">
                <a:solidFill>
                  <a:srgbClr val="000000"/>
                </a:solidFill>
                <a:latin typeface="Verdana Pro"/>
                <a:ea typeface="Verdana Pro"/>
                <a:cs typeface="Verdana Pro"/>
                <a:sym typeface="Verdana Pro"/>
              </a:rPr>
              <a:t> Review</a:t>
            </a:r>
          </a:p>
        </p:txBody>
      </p:sp>
      <p:sp>
        <p:nvSpPr>
          <p:cNvPr name="TextBox 15" id="15"/>
          <p:cNvSpPr txBox="true"/>
          <p:nvPr/>
        </p:nvSpPr>
        <p:spPr>
          <a:xfrm rot="0">
            <a:off x="6339840" y="9413557"/>
            <a:ext cx="5608320" cy="622935"/>
          </a:xfrm>
          <a:prstGeom prst="rect">
            <a:avLst/>
          </a:prstGeom>
        </p:spPr>
        <p:txBody>
          <a:bodyPr anchor="t" rtlCol="false" tIns="0" lIns="0" bIns="0" rIns="0">
            <a:spAutoFit/>
          </a:bodyPr>
          <a:lstStyle/>
          <a:p>
            <a:pPr algn="ctr">
              <a:lnSpc>
                <a:spcPts val="2160"/>
              </a:lnSpc>
            </a:pPr>
            <a:r>
              <a:rPr lang="en-US" sz="1800">
                <a:solidFill>
                  <a:srgbClr val="000000"/>
                </a:solidFill>
                <a:latin typeface="Verdana Pro"/>
                <a:ea typeface="Verdana Pro"/>
                <a:cs typeface="Verdana Pro"/>
                <a:sym typeface="Verdana Pro"/>
              </a:rPr>
              <a:t>Department of Computer Science and Engineering</a:t>
            </a:r>
          </a:p>
        </p:txBody>
      </p:sp>
      <p:sp>
        <p:nvSpPr>
          <p:cNvPr name="TextBox 16" id="16"/>
          <p:cNvSpPr txBox="true"/>
          <p:nvPr/>
        </p:nvSpPr>
        <p:spPr>
          <a:xfrm rot="0">
            <a:off x="13197840" y="9413557"/>
            <a:ext cx="3779520" cy="266700"/>
          </a:xfrm>
          <a:prstGeom prst="rect">
            <a:avLst/>
          </a:prstGeom>
        </p:spPr>
        <p:txBody>
          <a:bodyPr anchor="t" rtlCol="false" tIns="0" lIns="0" bIns="0" rIns="0">
            <a:spAutoFit/>
          </a:bodyPr>
          <a:lstStyle/>
          <a:p>
            <a:pPr algn="r">
              <a:lnSpc>
                <a:spcPts val="2160"/>
              </a:lnSpc>
            </a:pPr>
            <a:r>
              <a:rPr lang="en-US" sz="1800">
                <a:solidFill>
                  <a:srgbClr val="000000"/>
                </a:solidFill>
                <a:latin typeface="Verdana Pro"/>
                <a:ea typeface="Verdana Pro"/>
                <a:cs typeface="Verdana Pro"/>
                <a:sym typeface="Verdana Pro"/>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212056" y="2343152"/>
            <a:ext cx="15930564" cy="178593"/>
            <a:chOff x="0" y="0"/>
            <a:chExt cx="21240752" cy="238124"/>
          </a:xfrm>
        </p:grpSpPr>
        <p:sp>
          <p:nvSpPr>
            <p:cNvPr name="Freeform 4" id="4"/>
            <p:cNvSpPr/>
            <p:nvPr/>
          </p:nvSpPr>
          <p:spPr>
            <a:xfrm flipH="false" flipV="false" rot="0">
              <a:off x="9525" y="9525"/>
              <a:ext cx="12414758" cy="219075"/>
            </a:xfrm>
            <a:custGeom>
              <a:avLst/>
              <a:gdLst/>
              <a:ahLst/>
              <a:cxnLst/>
              <a:rect r="r" b="b" t="t" l="l"/>
              <a:pathLst>
                <a:path h="219075" w="12414758">
                  <a:moveTo>
                    <a:pt x="0" y="0"/>
                  </a:moveTo>
                  <a:lnTo>
                    <a:pt x="12414758" y="0"/>
                  </a:lnTo>
                  <a:lnTo>
                    <a:pt x="12414758" y="219075"/>
                  </a:lnTo>
                  <a:lnTo>
                    <a:pt x="0" y="219075"/>
                  </a:lnTo>
                  <a:lnTo>
                    <a:pt x="0" y="0"/>
                  </a:lnTo>
                  <a:close/>
                </a:path>
              </a:pathLst>
            </a:custGeom>
            <a:solidFill>
              <a:srgbClr val="CC0000"/>
            </a:solidFill>
          </p:spPr>
        </p:sp>
        <p:sp>
          <p:nvSpPr>
            <p:cNvPr name="Freeform 5" id="5"/>
            <p:cNvSpPr/>
            <p:nvPr/>
          </p:nvSpPr>
          <p:spPr>
            <a:xfrm flipH="false" flipV="false" rot="0">
              <a:off x="9525" y="9525"/>
              <a:ext cx="21221700" cy="0"/>
            </a:xfrm>
            <a:custGeom>
              <a:avLst/>
              <a:gdLst/>
              <a:ahLst/>
              <a:cxnLst/>
              <a:rect r="r" b="b" t="t" l="l"/>
              <a:pathLst>
                <a:path h="0" w="21221700">
                  <a:moveTo>
                    <a:pt x="0" y="0"/>
                  </a:moveTo>
                  <a:lnTo>
                    <a:pt x="21221700" y="0"/>
                  </a:lnTo>
                </a:path>
              </a:pathLst>
            </a:custGeom>
            <a:solidFill>
              <a:srgbClr val="CC0000"/>
            </a:solidFill>
          </p:spPr>
        </p:sp>
        <p:sp>
          <p:nvSpPr>
            <p:cNvPr name="Freeform 6" id="6"/>
            <p:cNvSpPr/>
            <p:nvPr/>
          </p:nvSpPr>
          <p:spPr>
            <a:xfrm flipH="false" flipV="false" rot="0">
              <a:off x="0" y="0"/>
              <a:ext cx="12433808" cy="238125"/>
            </a:xfrm>
            <a:custGeom>
              <a:avLst/>
              <a:gdLst/>
              <a:ahLst/>
              <a:cxnLst/>
              <a:rect r="r" b="b" t="t" l="l"/>
              <a:pathLst>
                <a:path h="238125" w="12433808">
                  <a:moveTo>
                    <a:pt x="9525" y="0"/>
                  </a:moveTo>
                  <a:lnTo>
                    <a:pt x="12424283" y="0"/>
                  </a:lnTo>
                  <a:cubicBezTo>
                    <a:pt x="12429489" y="0"/>
                    <a:pt x="12433808" y="4318"/>
                    <a:pt x="12433808" y="9525"/>
                  </a:cubicBezTo>
                  <a:lnTo>
                    <a:pt x="12433808" y="228600"/>
                  </a:lnTo>
                  <a:cubicBezTo>
                    <a:pt x="12433808" y="233807"/>
                    <a:pt x="12429489" y="238125"/>
                    <a:pt x="12424283"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424283" y="219075"/>
                  </a:lnTo>
                  <a:lnTo>
                    <a:pt x="12424283" y="228600"/>
                  </a:lnTo>
                  <a:lnTo>
                    <a:pt x="12414758" y="228600"/>
                  </a:lnTo>
                  <a:lnTo>
                    <a:pt x="12414758" y="9525"/>
                  </a:lnTo>
                  <a:lnTo>
                    <a:pt x="12424283" y="9525"/>
                  </a:lnTo>
                  <a:lnTo>
                    <a:pt x="12424283" y="19050"/>
                  </a:lnTo>
                  <a:lnTo>
                    <a:pt x="9525" y="19050"/>
                  </a:lnTo>
                  <a:close/>
                </a:path>
              </a:pathLst>
            </a:custGeom>
            <a:solidFill>
              <a:srgbClr val="CC0000"/>
            </a:solidFill>
          </p:spPr>
        </p:sp>
        <p:sp>
          <p:nvSpPr>
            <p:cNvPr name="Freeform 7" id="7"/>
            <p:cNvSpPr/>
            <p:nvPr/>
          </p:nvSpPr>
          <p:spPr>
            <a:xfrm flipH="false" flipV="false" rot="0">
              <a:off x="9525" y="0"/>
              <a:ext cx="21221700" cy="19050"/>
            </a:xfrm>
            <a:custGeom>
              <a:avLst/>
              <a:gdLst/>
              <a:ahLst/>
              <a:cxnLst/>
              <a:rect r="r" b="b" t="t" l="l"/>
              <a:pathLst>
                <a:path h="19050" w="21221700">
                  <a:moveTo>
                    <a:pt x="0" y="0"/>
                  </a:moveTo>
                  <a:lnTo>
                    <a:pt x="21221700" y="0"/>
                  </a:lnTo>
                  <a:lnTo>
                    <a:pt x="21221700" y="19050"/>
                  </a:lnTo>
                  <a:lnTo>
                    <a:pt x="0" y="19050"/>
                  </a:lnTo>
                  <a:close/>
                </a:path>
              </a:pathLst>
            </a:custGeom>
            <a:solidFill>
              <a:srgbClr val="CC0000"/>
            </a:solidFill>
          </p:spPr>
        </p:sp>
      </p:grpSp>
      <p:grpSp>
        <p:nvGrpSpPr>
          <p:cNvPr name="Group 8" id="8"/>
          <p:cNvGrpSpPr/>
          <p:nvPr/>
        </p:nvGrpSpPr>
        <p:grpSpPr>
          <a:xfrm rot="0">
            <a:off x="1216819" y="9255919"/>
            <a:ext cx="15854362" cy="4762"/>
            <a:chOff x="0" y="0"/>
            <a:chExt cx="21139150" cy="6350"/>
          </a:xfrm>
        </p:grpSpPr>
        <p:sp>
          <p:nvSpPr>
            <p:cNvPr name="Freeform 9" id="9"/>
            <p:cNvSpPr/>
            <p:nvPr/>
          </p:nvSpPr>
          <p:spPr>
            <a:xfrm flipH="false" flipV="false" rot="0">
              <a:off x="3175" y="0"/>
              <a:ext cx="21132800" cy="6350"/>
            </a:xfrm>
            <a:custGeom>
              <a:avLst/>
              <a:gdLst/>
              <a:ahLst/>
              <a:cxnLst/>
              <a:rect r="r" b="b" t="t" l="l"/>
              <a:pathLst>
                <a:path h="6350" w="21132800">
                  <a:moveTo>
                    <a:pt x="0" y="0"/>
                  </a:moveTo>
                  <a:lnTo>
                    <a:pt x="21132800" y="0"/>
                  </a:lnTo>
                  <a:lnTo>
                    <a:pt x="21132800" y="6350"/>
                  </a:lnTo>
                  <a:lnTo>
                    <a:pt x="0" y="6350"/>
                  </a:lnTo>
                  <a:close/>
                </a:path>
              </a:pathLst>
            </a:custGeom>
            <a:solidFill>
              <a:srgbClr val="CC0000"/>
            </a:solidFill>
          </p:spPr>
        </p:sp>
      </p:grpSp>
      <p:grpSp>
        <p:nvGrpSpPr>
          <p:cNvPr name="Group 10" id="10"/>
          <p:cNvGrpSpPr/>
          <p:nvPr/>
        </p:nvGrpSpPr>
        <p:grpSpPr>
          <a:xfrm rot="0">
            <a:off x="1149350" y="457201"/>
            <a:ext cx="16002000" cy="1824038"/>
            <a:chOff x="0" y="0"/>
            <a:chExt cx="21336000" cy="2432050"/>
          </a:xfrm>
        </p:grpSpPr>
        <p:sp>
          <p:nvSpPr>
            <p:cNvPr name="Freeform 11" id="11"/>
            <p:cNvSpPr/>
            <p:nvPr/>
          </p:nvSpPr>
          <p:spPr>
            <a:xfrm flipH="false" flipV="false" rot="0">
              <a:off x="0" y="0"/>
              <a:ext cx="21336000" cy="2432050"/>
            </a:xfrm>
            <a:custGeom>
              <a:avLst/>
              <a:gdLst/>
              <a:ahLst/>
              <a:cxnLst/>
              <a:rect r="r" b="b" t="t" l="l"/>
              <a:pathLst>
                <a:path h="2432050" w="21336000">
                  <a:moveTo>
                    <a:pt x="0" y="0"/>
                  </a:moveTo>
                  <a:lnTo>
                    <a:pt x="21336000" y="0"/>
                  </a:lnTo>
                  <a:lnTo>
                    <a:pt x="21336000" y="2432050"/>
                  </a:lnTo>
                  <a:lnTo>
                    <a:pt x="0" y="2432050"/>
                  </a:lnTo>
                  <a:close/>
                </a:path>
              </a:pathLst>
            </a:custGeom>
            <a:solidFill>
              <a:srgbClr val="000000">
                <a:alpha val="0"/>
              </a:srgbClr>
            </a:solidFill>
          </p:spPr>
        </p:sp>
        <p:sp>
          <p:nvSpPr>
            <p:cNvPr name="TextBox 12" id="12"/>
            <p:cNvSpPr txBox="true"/>
            <p:nvPr/>
          </p:nvSpPr>
          <p:spPr>
            <a:xfrm>
              <a:off x="0" y="-95250"/>
              <a:ext cx="21336000" cy="2527300"/>
            </a:xfrm>
            <a:prstGeom prst="rect">
              <a:avLst/>
            </a:prstGeom>
          </p:spPr>
          <p:txBody>
            <a:bodyPr anchor="b" rtlCol="false" tIns="0" lIns="0" bIns="0" rIns="0"/>
            <a:lstStyle/>
            <a:p>
              <a:pPr algn="ctr">
                <a:lnSpc>
                  <a:spcPts val="5759"/>
                </a:lnSpc>
              </a:pPr>
              <a:r>
                <a:rPr lang="en-US" sz="4800" b="true">
                  <a:solidFill>
                    <a:srgbClr val="FF0000"/>
                  </a:solidFill>
                  <a:latin typeface="Times New Roman MT Bold"/>
                  <a:ea typeface="Times New Roman MT Bold"/>
                  <a:cs typeface="Times New Roman MT Bold"/>
                  <a:sym typeface="Times New Roman MT Bold"/>
                </a:rPr>
                <a:t>List Of Modules</a:t>
              </a:r>
            </a:p>
          </p:txBody>
        </p:sp>
      </p:grpSp>
      <p:sp>
        <p:nvSpPr>
          <p:cNvPr name="Freeform 13" id="13"/>
          <p:cNvSpPr/>
          <p:nvPr/>
        </p:nvSpPr>
        <p:spPr>
          <a:xfrm flipH="false" flipV="false" rot="0">
            <a:off x="8391125" y="2882662"/>
            <a:ext cx="9024149" cy="6012339"/>
          </a:xfrm>
          <a:custGeom>
            <a:avLst/>
            <a:gdLst/>
            <a:ahLst/>
            <a:cxnLst/>
            <a:rect r="r" b="b" t="t" l="l"/>
            <a:pathLst>
              <a:path h="6012339" w="9024149">
                <a:moveTo>
                  <a:pt x="0" y="0"/>
                </a:moveTo>
                <a:lnTo>
                  <a:pt x="9024149" y="0"/>
                </a:lnTo>
                <a:lnTo>
                  <a:pt x="9024149" y="6012340"/>
                </a:lnTo>
                <a:lnTo>
                  <a:pt x="0" y="6012340"/>
                </a:lnTo>
                <a:lnTo>
                  <a:pt x="0" y="0"/>
                </a:lnTo>
                <a:close/>
              </a:path>
            </a:pathLst>
          </a:custGeom>
          <a:blipFill>
            <a:blip r:embed="rId3"/>
            <a:stretch>
              <a:fillRect l="0" t="0" r="0" b="0"/>
            </a:stretch>
          </a:blipFill>
        </p:spPr>
      </p:sp>
      <p:sp>
        <p:nvSpPr>
          <p:cNvPr name="TextBox 14" id="14"/>
          <p:cNvSpPr txBox="true"/>
          <p:nvPr/>
        </p:nvSpPr>
        <p:spPr>
          <a:xfrm rot="0">
            <a:off x="1310640" y="9413557"/>
            <a:ext cx="3779520" cy="266700"/>
          </a:xfrm>
          <a:prstGeom prst="rect">
            <a:avLst/>
          </a:prstGeom>
        </p:spPr>
        <p:txBody>
          <a:bodyPr anchor="t" rtlCol="false" tIns="0" lIns="0" bIns="0" rIns="0">
            <a:spAutoFit/>
          </a:bodyPr>
          <a:lstStyle/>
          <a:p>
            <a:pPr algn="l">
              <a:lnSpc>
                <a:spcPts val="2160"/>
              </a:lnSpc>
            </a:pPr>
            <a:r>
              <a:rPr lang="en-US" sz="1800">
                <a:solidFill>
                  <a:srgbClr val="000000"/>
                </a:solidFill>
                <a:latin typeface="Verdana Pro"/>
                <a:ea typeface="Verdana Pro"/>
                <a:cs typeface="Verdana Pro"/>
                <a:sym typeface="Verdana Pro"/>
              </a:rPr>
              <a:t>Second</a:t>
            </a:r>
            <a:r>
              <a:rPr lang="en-US" sz="1800">
                <a:solidFill>
                  <a:srgbClr val="000000"/>
                </a:solidFill>
                <a:latin typeface="Verdana Pro"/>
                <a:ea typeface="Verdana Pro"/>
                <a:cs typeface="Verdana Pro"/>
                <a:sym typeface="Verdana Pro"/>
              </a:rPr>
              <a:t> Review</a:t>
            </a:r>
          </a:p>
        </p:txBody>
      </p:sp>
      <p:sp>
        <p:nvSpPr>
          <p:cNvPr name="TextBox 15" id="15"/>
          <p:cNvSpPr txBox="true"/>
          <p:nvPr/>
        </p:nvSpPr>
        <p:spPr>
          <a:xfrm rot="0">
            <a:off x="6339840" y="9413557"/>
            <a:ext cx="5608320" cy="622935"/>
          </a:xfrm>
          <a:prstGeom prst="rect">
            <a:avLst/>
          </a:prstGeom>
        </p:spPr>
        <p:txBody>
          <a:bodyPr anchor="t" rtlCol="false" tIns="0" lIns="0" bIns="0" rIns="0">
            <a:spAutoFit/>
          </a:bodyPr>
          <a:lstStyle/>
          <a:p>
            <a:pPr algn="ctr">
              <a:lnSpc>
                <a:spcPts val="2160"/>
              </a:lnSpc>
            </a:pPr>
            <a:r>
              <a:rPr lang="en-US" sz="1800">
                <a:solidFill>
                  <a:srgbClr val="000000"/>
                </a:solidFill>
                <a:latin typeface="Verdana Pro"/>
                <a:ea typeface="Verdana Pro"/>
                <a:cs typeface="Verdana Pro"/>
                <a:sym typeface="Verdana Pro"/>
              </a:rPr>
              <a:t>Department of Computer Science and Engineering</a:t>
            </a:r>
          </a:p>
        </p:txBody>
      </p:sp>
      <p:sp>
        <p:nvSpPr>
          <p:cNvPr name="TextBox 16" id="16"/>
          <p:cNvSpPr txBox="true"/>
          <p:nvPr/>
        </p:nvSpPr>
        <p:spPr>
          <a:xfrm rot="0">
            <a:off x="13197840" y="9413557"/>
            <a:ext cx="3779520" cy="266700"/>
          </a:xfrm>
          <a:prstGeom prst="rect">
            <a:avLst/>
          </a:prstGeom>
        </p:spPr>
        <p:txBody>
          <a:bodyPr anchor="t" rtlCol="false" tIns="0" lIns="0" bIns="0" rIns="0">
            <a:spAutoFit/>
          </a:bodyPr>
          <a:lstStyle/>
          <a:p>
            <a:pPr algn="r">
              <a:lnSpc>
                <a:spcPts val="2160"/>
              </a:lnSpc>
            </a:pPr>
            <a:r>
              <a:rPr lang="en-US" sz="1800">
                <a:solidFill>
                  <a:srgbClr val="000000"/>
                </a:solidFill>
                <a:latin typeface="Verdana Pro"/>
                <a:ea typeface="Verdana Pro"/>
                <a:cs typeface="Verdana Pro"/>
                <a:sym typeface="Verdana Pro"/>
              </a:rPr>
              <a:t>8</a:t>
            </a:r>
          </a:p>
        </p:txBody>
      </p:sp>
      <p:sp>
        <p:nvSpPr>
          <p:cNvPr name="TextBox 17" id="17"/>
          <p:cNvSpPr txBox="true"/>
          <p:nvPr/>
        </p:nvSpPr>
        <p:spPr>
          <a:xfrm rot="0">
            <a:off x="1553154" y="4143102"/>
            <a:ext cx="7074012" cy="2924175"/>
          </a:xfrm>
          <a:prstGeom prst="rect">
            <a:avLst/>
          </a:prstGeom>
        </p:spPr>
        <p:txBody>
          <a:bodyPr anchor="t" rtlCol="false" tIns="0" lIns="0" bIns="0" rIns="0">
            <a:spAutoFit/>
          </a:bodyPr>
          <a:lstStyle/>
          <a:p>
            <a:pPr algn="just" marL="679020" indent="-339510" lvl="1">
              <a:lnSpc>
                <a:spcPts val="3774"/>
              </a:lnSpc>
              <a:buFont typeface="Arial"/>
              <a:buChar char="•"/>
            </a:pPr>
            <a:r>
              <a:rPr lang="en-US" sz="3145">
                <a:solidFill>
                  <a:srgbClr val="000000"/>
                </a:solidFill>
                <a:latin typeface="Times New Roman MT"/>
                <a:ea typeface="Times New Roman MT"/>
                <a:cs typeface="Times New Roman MT"/>
                <a:sym typeface="Times New Roman MT"/>
              </a:rPr>
              <a:t>M</a:t>
            </a:r>
            <a:r>
              <a:rPr lang="en-US" sz="3145">
                <a:solidFill>
                  <a:srgbClr val="000000"/>
                </a:solidFill>
                <a:latin typeface="Times New Roman MT"/>
                <a:ea typeface="Times New Roman MT"/>
                <a:cs typeface="Times New Roman MT"/>
                <a:sym typeface="Times New Roman MT"/>
              </a:rPr>
              <a:t>odule 1 - Foundation</a:t>
            </a:r>
          </a:p>
          <a:p>
            <a:pPr algn="just" marL="679020" indent="-339510" lvl="1">
              <a:lnSpc>
                <a:spcPts val="3774"/>
              </a:lnSpc>
              <a:buFont typeface="Arial"/>
              <a:buChar char="•"/>
            </a:pPr>
            <a:r>
              <a:rPr lang="en-US" sz="3145">
                <a:solidFill>
                  <a:srgbClr val="000000"/>
                </a:solidFill>
                <a:latin typeface="Times New Roman MT"/>
                <a:ea typeface="Times New Roman MT"/>
                <a:cs typeface="Times New Roman MT"/>
                <a:sym typeface="Times New Roman MT"/>
              </a:rPr>
              <a:t>Module 2  -Frontend</a:t>
            </a:r>
          </a:p>
          <a:p>
            <a:pPr algn="just" marL="679020" indent="-339510" lvl="1">
              <a:lnSpc>
                <a:spcPts val="3774"/>
              </a:lnSpc>
              <a:buFont typeface="Arial"/>
              <a:buChar char="•"/>
            </a:pPr>
            <a:r>
              <a:rPr lang="en-US" sz="3145">
                <a:solidFill>
                  <a:srgbClr val="000000"/>
                </a:solidFill>
                <a:latin typeface="Times New Roman MT"/>
                <a:ea typeface="Times New Roman MT"/>
                <a:cs typeface="Times New Roman MT"/>
                <a:sym typeface="Times New Roman MT"/>
              </a:rPr>
              <a:t>Module 3 - Sensing</a:t>
            </a:r>
          </a:p>
          <a:p>
            <a:pPr algn="just" marL="679020" indent="-339510" lvl="1">
              <a:lnSpc>
                <a:spcPts val="3774"/>
              </a:lnSpc>
              <a:buFont typeface="Arial"/>
              <a:buChar char="•"/>
            </a:pPr>
            <a:r>
              <a:rPr lang="en-US" sz="3145">
                <a:solidFill>
                  <a:srgbClr val="000000"/>
                </a:solidFill>
                <a:latin typeface="Times New Roman MT"/>
                <a:ea typeface="Times New Roman MT"/>
                <a:cs typeface="Times New Roman MT"/>
                <a:sym typeface="Times New Roman MT"/>
              </a:rPr>
              <a:t>Module 4 - Edge Intelligence</a:t>
            </a:r>
          </a:p>
          <a:p>
            <a:pPr algn="just" marL="679020" indent="-339510" lvl="1">
              <a:lnSpc>
                <a:spcPts val="3774"/>
              </a:lnSpc>
              <a:buFont typeface="Arial"/>
              <a:buChar char="•"/>
            </a:pPr>
            <a:r>
              <a:rPr lang="en-US" sz="3145">
                <a:solidFill>
                  <a:srgbClr val="000000"/>
                </a:solidFill>
                <a:latin typeface="Times New Roman MT"/>
                <a:ea typeface="Times New Roman MT"/>
                <a:cs typeface="Times New Roman MT"/>
                <a:sym typeface="Times New Roman MT"/>
              </a:rPr>
              <a:t>Module 5 - Connectivity and Data</a:t>
            </a:r>
          </a:p>
          <a:p>
            <a:pPr algn="just" marL="679020" indent="-339510" lvl="1">
              <a:lnSpc>
                <a:spcPts val="3774"/>
              </a:lnSpc>
              <a:buFont typeface="Arial"/>
              <a:buChar char="•"/>
            </a:pPr>
            <a:r>
              <a:rPr lang="en-US" sz="3145">
                <a:solidFill>
                  <a:srgbClr val="000000"/>
                </a:solidFill>
                <a:latin typeface="Times New Roman MT"/>
                <a:ea typeface="Times New Roman MT"/>
                <a:cs typeface="Times New Roman MT"/>
                <a:sym typeface="Times New Roman MT"/>
              </a:rPr>
              <a:t>Module 6 - Multi‑sensor Expansion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212056" y="2343152"/>
            <a:ext cx="15930564" cy="178593"/>
            <a:chOff x="0" y="0"/>
            <a:chExt cx="21240752" cy="238124"/>
          </a:xfrm>
        </p:grpSpPr>
        <p:sp>
          <p:nvSpPr>
            <p:cNvPr name="Freeform 4" id="4"/>
            <p:cNvSpPr/>
            <p:nvPr/>
          </p:nvSpPr>
          <p:spPr>
            <a:xfrm flipH="false" flipV="false" rot="0">
              <a:off x="9525" y="9525"/>
              <a:ext cx="12414758" cy="219075"/>
            </a:xfrm>
            <a:custGeom>
              <a:avLst/>
              <a:gdLst/>
              <a:ahLst/>
              <a:cxnLst/>
              <a:rect r="r" b="b" t="t" l="l"/>
              <a:pathLst>
                <a:path h="219075" w="12414758">
                  <a:moveTo>
                    <a:pt x="0" y="0"/>
                  </a:moveTo>
                  <a:lnTo>
                    <a:pt x="12414758" y="0"/>
                  </a:lnTo>
                  <a:lnTo>
                    <a:pt x="12414758" y="219075"/>
                  </a:lnTo>
                  <a:lnTo>
                    <a:pt x="0" y="219075"/>
                  </a:lnTo>
                  <a:lnTo>
                    <a:pt x="0" y="0"/>
                  </a:lnTo>
                  <a:close/>
                </a:path>
              </a:pathLst>
            </a:custGeom>
            <a:solidFill>
              <a:srgbClr val="CC0000"/>
            </a:solidFill>
          </p:spPr>
        </p:sp>
        <p:sp>
          <p:nvSpPr>
            <p:cNvPr name="Freeform 5" id="5"/>
            <p:cNvSpPr/>
            <p:nvPr/>
          </p:nvSpPr>
          <p:spPr>
            <a:xfrm flipH="false" flipV="false" rot="0">
              <a:off x="9525" y="9525"/>
              <a:ext cx="21221700" cy="0"/>
            </a:xfrm>
            <a:custGeom>
              <a:avLst/>
              <a:gdLst/>
              <a:ahLst/>
              <a:cxnLst/>
              <a:rect r="r" b="b" t="t" l="l"/>
              <a:pathLst>
                <a:path h="0" w="21221700">
                  <a:moveTo>
                    <a:pt x="0" y="0"/>
                  </a:moveTo>
                  <a:lnTo>
                    <a:pt x="21221700" y="0"/>
                  </a:lnTo>
                </a:path>
              </a:pathLst>
            </a:custGeom>
            <a:solidFill>
              <a:srgbClr val="CC0000"/>
            </a:solidFill>
          </p:spPr>
        </p:sp>
        <p:sp>
          <p:nvSpPr>
            <p:cNvPr name="Freeform 6" id="6"/>
            <p:cNvSpPr/>
            <p:nvPr/>
          </p:nvSpPr>
          <p:spPr>
            <a:xfrm flipH="false" flipV="false" rot="0">
              <a:off x="0" y="0"/>
              <a:ext cx="12433808" cy="238125"/>
            </a:xfrm>
            <a:custGeom>
              <a:avLst/>
              <a:gdLst/>
              <a:ahLst/>
              <a:cxnLst/>
              <a:rect r="r" b="b" t="t" l="l"/>
              <a:pathLst>
                <a:path h="238125" w="12433808">
                  <a:moveTo>
                    <a:pt x="9525" y="0"/>
                  </a:moveTo>
                  <a:lnTo>
                    <a:pt x="12424283" y="0"/>
                  </a:lnTo>
                  <a:cubicBezTo>
                    <a:pt x="12429489" y="0"/>
                    <a:pt x="12433808" y="4318"/>
                    <a:pt x="12433808" y="9525"/>
                  </a:cubicBezTo>
                  <a:lnTo>
                    <a:pt x="12433808" y="228600"/>
                  </a:lnTo>
                  <a:cubicBezTo>
                    <a:pt x="12433808" y="233807"/>
                    <a:pt x="12429489" y="238125"/>
                    <a:pt x="12424283"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424283" y="219075"/>
                  </a:lnTo>
                  <a:lnTo>
                    <a:pt x="12424283" y="228600"/>
                  </a:lnTo>
                  <a:lnTo>
                    <a:pt x="12414758" y="228600"/>
                  </a:lnTo>
                  <a:lnTo>
                    <a:pt x="12414758" y="9525"/>
                  </a:lnTo>
                  <a:lnTo>
                    <a:pt x="12424283" y="9525"/>
                  </a:lnTo>
                  <a:lnTo>
                    <a:pt x="12424283" y="19050"/>
                  </a:lnTo>
                  <a:lnTo>
                    <a:pt x="9525" y="19050"/>
                  </a:lnTo>
                  <a:close/>
                </a:path>
              </a:pathLst>
            </a:custGeom>
            <a:solidFill>
              <a:srgbClr val="CC0000"/>
            </a:solidFill>
          </p:spPr>
        </p:sp>
        <p:sp>
          <p:nvSpPr>
            <p:cNvPr name="Freeform 7" id="7"/>
            <p:cNvSpPr/>
            <p:nvPr/>
          </p:nvSpPr>
          <p:spPr>
            <a:xfrm flipH="false" flipV="false" rot="0">
              <a:off x="9525" y="0"/>
              <a:ext cx="21221700" cy="19050"/>
            </a:xfrm>
            <a:custGeom>
              <a:avLst/>
              <a:gdLst/>
              <a:ahLst/>
              <a:cxnLst/>
              <a:rect r="r" b="b" t="t" l="l"/>
              <a:pathLst>
                <a:path h="19050" w="21221700">
                  <a:moveTo>
                    <a:pt x="0" y="0"/>
                  </a:moveTo>
                  <a:lnTo>
                    <a:pt x="21221700" y="0"/>
                  </a:lnTo>
                  <a:lnTo>
                    <a:pt x="21221700" y="19050"/>
                  </a:lnTo>
                  <a:lnTo>
                    <a:pt x="0" y="19050"/>
                  </a:lnTo>
                  <a:close/>
                </a:path>
              </a:pathLst>
            </a:custGeom>
            <a:solidFill>
              <a:srgbClr val="CC0000"/>
            </a:solidFill>
          </p:spPr>
        </p:sp>
      </p:grpSp>
      <p:grpSp>
        <p:nvGrpSpPr>
          <p:cNvPr name="Group 8" id="8"/>
          <p:cNvGrpSpPr/>
          <p:nvPr/>
        </p:nvGrpSpPr>
        <p:grpSpPr>
          <a:xfrm rot="0">
            <a:off x="1216819" y="9255919"/>
            <a:ext cx="15854362" cy="4762"/>
            <a:chOff x="0" y="0"/>
            <a:chExt cx="21139150" cy="6350"/>
          </a:xfrm>
        </p:grpSpPr>
        <p:sp>
          <p:nvSpPr>
            <p:cNvPr name="Freeform 9" id="9"/>
            <p:cNvSpPr/>
            <p:nvPr/>
          </p:nvSpPr>
          <p:spPr>
            <a:xfrm flipH="false" flipV="false" rot="0">
              <a:off x="3175" y="0"/>
              <a:ext cx="21132800" cy="6350"/>
            </a:xfrm>
            <a:custGeom>
              <a:avLst/>
              <a:gdLst/>
              <a:ahLst/>
              <a:cxnLst/>
              <a:rect r="r" b="b" t="t" l="l"/>
              <a:pathLst>
                <a:path h="6350" w="21132800">
                  <a:moveTo>
                    <a:pt x="0" y="0"/>
                  </a:moveTo>
                  <a:lnTo>
                    <a:pt x="21132800" y="0"/>
                  </a:lnTo>
                  <a:lnTo>
                    <a:pt x="21132800" y="6350"/>
                  </a:lnTo>
                  <a:lnTo>
                    <a:pt x="0" y="6350"/>
                  </a:lnTo>
                  <a:close/>
                </a:path>
              </a:pathLst>
            </a:custGeom>
            <a:solidFill>
              <a:srgbClr val="CC0000"/>
            </a:solidFill>
          </p:spPr>
        </p:sp>
      </p:grpSp>
      <p:grpSp>
        <p:nvGrpSpPr>
          <p:cNvPr name="Group 10" id="10"/>
          <p:cNvGrpSpPr/>
          <p:nvPr/>
        </p:nvGrpSpPr>
        <p:grpSpPr>
          <a:xfrm rot="0">
            <a:off x="1143000" y="1293673"/>
            <a:ext cx="16002000" cy="992330"/>
            <a:chOff x="0" y="0"/>
            <a:chExt cx="21336000" cy="1323106"/>
          </a:xfrm>
        </p:grpSpPr>
        <p:sp>
          <p:nvSpPr>
            <p:cNvPr name="Freeform 11" id="11"/>
            <p:cNvSpPr/>
            <p:nvPr/>
          </p:nvSpPr>
          <p:spPr>
            <a:xfrm flipH="false" flipV="false" rot="0">
              <a:off x="0" y="0"/>
              <a:ext cx="21336000" cy="1323106"/>
            </a:xfrm>
            <a:custGeom>
              <a:avLst/>
              <a:gdLst/>
              <a:ahLst/>
              <a:cxnLst/>
              <a:rect r="r" b="b" t="t" l="l"/>
              <a:pathLst>
                <a:path h="1323106" w="21336000">
                  <a:moveTo>
                    <a:pt x="0" y="0"/>
                  </a:moveTo>
                  <a:lnTo>
                    <a:pt x="21336000" y="0"/>
                  </a:lnTo>
                  <a:lnTo>
                    <a:pt x="21336000" y="1323106"/>
                  </a:lnTo>
                  <a:lnTo>
                    <a:pt x="0" y="1323106"/>
                  </a:lnTo>
                  <a:close/>
                </a:path>
              </a:pathLst>
            </a:custGeom>
            <a:solidFill>
              <a:srgbClr val="000000">
                <a:alpha val="0"/>
              </a:srgbClr>
            </a:solidFill>
          </p:spPr>
        </p:sp>
        <p:sp>
          <p:nvSpPr>
            <p:cNvPr name="TextBox 12" id="12"/>
            <p:cNvSpPr txBox="true"/>
            <p:nvPr/>
          </p:nvSpPr>
          <p:spPr>
            <a:xfrm>
              <a:off x="0" y="-95250"/>
              <a:ext cx="21336000" cy="1418356"/>
            </a:xfrm>
            <a:prstGeom prst="rect">
              <a:avLst/>
            </a:prstGeom>
          </p:spPr>
          <p:txBody>
            <a:bodyPr anchor="b" rtlCol="false" tIns="0" lIns="0" bIns="0" rIns="0"/>
            <a:lstStyle/>
            <a:p>
              <a:pPr algn="ctr">
                <a:lnSpc>
                  <a:spcPts val="5759"/>
                </a:lnSpc>
              </a:pPr>
              <a:r>
                <a:rPr lang="en-US" sz="4800" b="true">
                  <a:solidFill>
                    <a:srgbClr val="FF0000"/>
                  </a:solidFill>
                  <a:latin typeface="Times New Roman MT Bold"/>
                  <a:ea typeface="Times New Roman MT Bold"/>
                  <a:cs typeface="Times New Roman MT Bold"/>
                  <a:sym typeface="Times New Roman MT Bold"/>
                </a:rPr>
                <a:t>LITERATURE SURVEY </a:t>
              </a:r>
            </a:p>
          </p:txBody>
        </p:sp>
      </p:grpSp>
      <p:graphicFrame>
        <p:nvGraphicFramePr>
          <p:cNvPr name="Table 13" id="13"/>
          <p:cNvGraphicFramePr>
            <a:graphicFrameLocks noGrp="true"/>
          </p:cNvGraphicFramePr>
          <p:nvPr/>
        </p:nvGraphicFramePr>
        <p:xfrm>
          <a:off x="1487335" y="2757394"/>
          <a:ext cx="15237128" cy="6346125"/>
        </p:xfrm>
        <a:graphic>
          <a:graphicData uri="http://schemas.openxmlformats.org/drawingml/2006/table">
            <a:tbl>
              <a:tblPr/>
              <a:tblGrid>
                <a:gridCol w="3236556"/>
                <a:gridCol w="3519159"/>
                <a:gridCol w="4473428"/>
                <a:gridCol w="4007985"/>
              </a:tblGrid>
              <a:tr h="1124794">
                <a:tc>
                  <a:txBody>
                    <a:bodyPr anchor="t" rtlCol="false"/>
                    <a:lstStyle/>
                    <a:p>
                      <a:pPr algn="ctr">
                        <a:lnSpc>
                          <a:spcPts val="3240"/>
                        </a:lnSpc>
                        <a:defRPr/>
                      </a:pPr>
                      <a:r>
                        <a:rPr lang="en-US" sz="2700" b="true">
                          <a:solidFill>
                            <a:srgbClr val="FFFFFF"/>
                          </a:solidFill>
                          <a:latin typeface="Verdana Pro Bold"/>
                          <a:ea typeface="Verdana Pro Bold"/>
                          <a:cs typeface="Verdana Pro Bold"/>
                          <a:sym typeface="Verdana Pro Bold"/>
                        </a:rPr>
                        <a:t>Author(s) / Year</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3B2C1"/>
                    </a:solidFill>
                  </a:tcPr>
                </a:tc>
                <a:tc>
                  <a:txBody>
                    <a:bodyPr anchor="t" rtlCol="false"/>
                    <a:lstStyle/>
                    <a:p>
                      <a:pPr algn="ctr">
                        <a:lnSpc>
                          <a:spcPts val="3240"/>
                        </a:lnSpc>
                        <a:defRPr/>
                      </a:pPr>
                      <a:r>
                        <a:rPr lang="en-US" sz="2700" b="true">
                          <a:solidFill>
                            <a:srgbClr val="FFFFFF"/>
                          </a:solidFill>
                          <a:latin typeface="Verdana Pro Bold"/>
                          <a:ea typeface="Verdana Pro Bold"/>
                          <a:cs typeface="Verdana Pro Bold"/>
                          <a:sym typeface="Verdana Pro Bold"/>
                        </a:rPr>
                        <a:t>Title of the Paper</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3B2C1"/>
                    </a:solidFill>
                  </a:tcPr>
                </a:tc>
                <a:tc>
                  <a:txBody>
                    <a:bodyPr anchor="t" rtlCol="false"/>
                    <a:lstStyle/>
                    <a:p>
                      <a:pPr algn="ctr">
                        <a:lnSpc>
                          <a:spcPts val="3240"/>
                        </a:lnSpc>
                        <a:defRPr/>
                      </a:pPr>
                      <a:r>
                        <a:rPr lang="en-US" sz="2700" b="true">
                          <a:solidFill>
                            <a:srgbClr val="FFFFFF"/>
                          </a:solidFill>
                          <a:latin typeface="Verdana Pro Bold"/>
                          <a:ea typeface="Verdana Pro Bold"/>
                          <a:cs typeface="Verdana Pro Bold"/>
                          <a:sym typeface="Verdana Pro Bold"/>
                        </a:rPr>
                        <a:t>Methodology / Approach</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3B2C1"/>
                    </a:solidFill>
                  </a:tcPr>
                </a:tc>
                <a:tc>
                  <a:txBody>
                    <a:bodyPr anchor="t" rtlCol="false"/>
                    <a:lstStyle/>
                    <a:p>
                      <a:pPr algn="ctr">
                        <a:lnSpc>
                          <a:spcPts val="3240"/>
                        </a:lnSpc>
                        <a:defRPr/>
                      </a:pPr>
                      <a:r>
                        <a:rPr lang="en-US" sz="2700" b="true">
                          <a:solidFill>
                            <a:srgbClr val="FFFFFF"/>
                          </a:solidFill>
                          <a:latin typeface="Verdana Pro Bold"/>
                          <a:ea typeface="Verdana Pro Bold"/>
                          <a:cs typeface="Verdana Pro Bold"/>
                          <a:sym typeface="Verdana Pro Bold"/>
                        </a:rPr>
                        <a:t>Inference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3B2C1"/>
                    </a:solidFill>
                  </a:tcPr>
                </a:tc>
              </a:tr>
              <a:tr h="1389405">
                <a:tc>
                  <a:txBody>
                    <a:bodyPr anchor="t" rtlCol="false"/>
                    <a:lstStyle/>
                    <a:p>
                      <a:pPr algn="l">
                        <a:lnSpc>
                          <a:spcPts val="1680"/>
                        </a:lnSpc>
                        <a:defRPr/>
                      </a:pPr>
                      <a:r>
                        <a:rPr lang="en-US" sz="1200">
                          <a:solidFill>
                            <a:srgbClr val="000000"/>
                          </a:solidFill>
                          <a:latin typeface="Times New Roman MT"/>
                          <a:ea typeface="Times New Roman MT"/>
                          <a:cs typeface="Times New Roman MT"/>
                          <a:sym typeface="Times New Roman MT"/>
                        </a:rPr>
                        <a:t>Engineering Technology &amp; Applied Science Research / 2020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l">
                        <a:lnSpc>
                          <a:spcPts val="1680"/>
                        </a:lnSpc>
                        <a:defRPr/>
                      </a:pPr>
                      <a:r>
                        <a:rPr lang="en-US" sz="1200">
                          <a:solidFill>
                            <a:srgbClr val="000000"/>
                          </a:solidFill>
                          <a:latin typeface="Arimo"/>
                          <a:ea typeface="Arimo"/>
                          <a:cs typeface="Arimo"/>
                          <a:sym typeface="Arimo"/>
                        </a:rPr>
                        <a:t>IoT Gas Leakage Detector and Warning Generator</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80"/>
                        </a:lnSpc>
                        <a:defRPr/>
                      </a:pPr>
                      <a:r>
                        <a:rPr lang="en-US" sz="1200">
                          <a:solidFill>
                            <a:srgbClr val="000000"/>
                          </a:solidFill>
                          <a:latin typeface="Arimo"/>
                          <a:ea typeface="Arimo"/>
                          <a:cs typeface="Arimo"/>
                          <a:sym typeface="Arimo"/>
                        </a:rPr>
                        <a:t>Industrial IoT monitoring using MQ-5 gas sensor with Arduino UNO, cloud data posting, automatic alarm systems with LCD display and exhaust fan activation. System detects LPG leakage under atmospheric conditions with wireless communication capabilities.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Demonstrated effective Arduino-based industrial IoT gas leakage detection using MQ-5 sensor with cloud data posting and local alarms. Highlights real-time detection and automated exhaust activation but lacks multi-sensor fusion and ML-based prediction.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r>
              <a:tr h="1277309">
                <a:tc>
                  <a:txBody>
                    <a:bodyPr anchor="t" rtlCol="false"/>
                    <a:lstStyle/>
                    <a:p>
                      <a:pPr algn="l">
                        <a:lnSpc>
                          <a:spcPts val="1679"/>
                        </a:lnSpc>
                        <a:defRPr/>
                      </a:pPr>
                      <a:r>
                        <a:rPr lang="en-US" sz="1200">
                          <a:solidFill>
                            <a:srgbClr val="000000"/>
                          </a:solidFill>
                          <a:latin typeface="Arimo"/>
                          <a:ea typeface="Arimo"/>
                          <a:cs typeface="Arimo"/>
                          <a:sym typeface="Arimo"/>
                        </a:rPr>
                        <a:t>International Journal of Innovative Engineering Research &amp; Technology / 2022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l">
                        <a:lnSpc>
                          <a:spcPts val="1679"/>
                        </a:lnSpc>
                        <a:defRPr/>
                      </a:pPr>
                      <a:r>
                        <a:rPr lang="en-US" sz="1200">
                          <a:solidFill>
                            <a:srgbClr val="000000"/>
                          </a:solidFill>
                          <a:latin typeface="Arimo"/>
                          <a:ea typeface="Arimo"/>
                          <a:cs typeface="Arimo"/>
                          <a:sym typeface="Arimo"/>
                        </a:rPr>
                        <a:t>Fire Detection and Control System Using Arduino</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Uses LM35 temperature sensor, MQ2 smoke sensor, GSM Module for SMS alerts, GPS Module, LCD, and relay systems. Automatic fire detection with a water sprinkler system and buzzer alarms for building safety.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Developed a multi-sensor fire detection system combining MQ-2 smoke and LM35 temperature sensors with GSM module for alerts. Integrates water sprinklers and relays for control but focuses more on local alarms and lacks real-time dashboard and machine learning.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r>
              <a:tr h="1277309">
                <a:tc>
                  <a:txBody>
                    <a:bodyPr anchor="t" rtlCol="false"/>
                    <a:lstStyle/>
                    <a:p>
                      <a:pPr algn="l">
                        <a:lnSpc>
                          <a:spcPts val="1679"/>
                        </a:lnSpc>
                        <a:defRPr/>
                      </a:pPr>
                      <a:r>
                        <a:rPr lang="en-US" sz="1200">
                          <a:solidFill>
                            <a:srgbClr val="000000"/>
                          </a:solidFill>
                          <a:latin typeface="Arimo"/>
                          <a:ea typeface="Arimo"/>
                          <a:cs typeface="Arimo"/>
                          <a:sym typeface="Arimo"/>
                        </a:rPr>
                        <a:t>SSRN Electronic Journal /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l">
                        <a:lnSpc>
                          <a:spcPts val="1679"/>
                        </a:lnSpc>
                        <a:defRPr/>
                      </a:pPr>
                      <a:r>
                        <a:rPr lang="en-US" sz="1200">
                          <a:solidFill>
                            <a:srgbClr val="000000"/>
                          </a:solidFill>
                          <a:latin typeface="Arimo"/>
                          <a:ea typeface="Arimo"/>
                          <a:cs typeface="Arimo"/>
                          <a:sym typeface="Arimo"/>
                        </a:rPr>
                        <a:t>Machine Learning for Gas Leak Detection and Forecasting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Deploys machine learning methods to predict dangerous gas</a:t>
                      </a:r>
                      <a:endParaRPr lang="en-US" sz="1100"/>
                    </a:p>
                    <a:p>
                      <a:pPr algn="just">
                        <a:lnSpc>
                          <a:spcPts val="1679"/>
                        </a:lnSpc>
                      </a:pPr>
                      <a:r>
                        <a:rPr lang="en-US" sz="1200">
                          <a:solidFill>
                            <a:srgbClr val="000000"/>
                          </a:solidFill>
                          <a:latin typeface="Arimo"/>
                          <a:ea typeface="Arimo"/>
                          <a:cs typeface="Arimo"/>
                          <a:sym typeface="Arimo"/>
                        </a:rPr>
                        <a:t>presence in petroleum industry, focuses on reducing false alarms through environmental factor compensation (temperature, humidity), uses decision tree approaches for gas concentration prediction.</a:t>
                      </a:r>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Real-time Arduino Nano-based LPG leak detection system with SMS alerts, exhaust fan control, and power cutoff. Strong IoT integration, but concentrates on LPG only and does not include flame or temperature sensor fusion.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r>
              <a:tr h="1277309">
                <a:tc>
                  <a:txBody>
                    <a:bodyPr anchor="t" rtlCol="false"/>
                    <a:lstStyle/>
                    <a:p>
                      <a:pPr algn="l">
                        <a:lnSpc>
                          <a:spcPts val="1679"/>
                        </a:lnSpc>
                        <a:defRPr/>
                      </a:pPr>
                      <a:r>
                        <a:rPr lang="en-US" sz="1200">
                          <a:solidFill>
                            <a:srgbClr val="000000"/>
                          </a:solidFill>
                          <a:latin typeface="Arimo"/>
                          <a:ea typeface="Arimo"/>
                          <a:cs typeface="Arimo"/>
                          <a:sym typeface="Arimo"/>
                        </a:rPr>
                        <a:t>International Journal of Engineering and Technology / 2022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F2F4"/>
                    </a:solidFill>
                  </a:tcPr>
                </a:tc>
                <a:tc>
                  <a:txBody>
                    <a:bodyPr anchor="t" rtlCol="false"/>
                    <a:lstStyle/>
                    <a:p>
                      <a:pPr algn="l">
                        <a:lnSpc>
                          <a:spcPts val="1679"/>
                        </a:lnSpc>
                        <a:defRPr/>
                      </a:pPr>
                      <a:r>
                        <a:rPr lang="en-US" sz="1200">
                          <a:solidFill>
                            <a:srgbClr val="000000"/>
                          </a:solidFill>
                          <a:latin typeface="Arimo"/>
                          <a:ea typeface="Arimo"/>
                          <a:cs typeface="Arimo"/>
                          <a:sym typeface="Arimo"/>
                        </a:rPr>
                        <a:t>LPG Gas Leakage Detection and Alert System</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F2F4"/>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System detects LPG leaks using gas sensors, sends SMS alerts to users, displays concentration on screen, controls exhaust fans, and power supply cutoff. Uses Arduino Nano, GSM module, and LCD with automatic</a:t>
                      </a:r>
                      <a:endParaRPr lang="en-US" sz="1100"/>
                    </a:p>
                    <a:p>
                      <a:pPr algn="just">
                        <a:lnSpc>
                          <a:spcPts val="1679"/>
                        </a:lnSpc>
                      </a:pPr>
                      <a:r>
                        <a:rPr lang="en-US" sz="1200">
                          <a:solidFill>
                            <a:srgbClr val="000000"/>
                          </a:solidFill>
                          <a:latin typeface="Arimo"/>
                          <a:ea typeface="Arimo"/>
                          <a:cs typeface="Arimo"/>
                          <a:sym typeface="Arimo"/>
                        </a:rPr>
                        <a:t>reservation features.</a:t>
                      </a:r>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F2F4"/>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Real-time Arduino Nano-based LPG leak detection system with SMS alerts, exhaust fan control, and power cutoff. Strong IoT integration but concentrates on LPG only and does not include flame or temperature sensor fusion.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F2F4"/>
                    </a:solidFill>
                  </a:tcPr>
                </a:tc>
              </a:tr>
            </a:tbl>
          </a:graphicData>
        </a:graphic>
      </p:graphicFrame>
      <p:sp>
        <p:nvSpPr>
          <p:cNvPr name="TextBox 14" id="14"/>
          <p:cNvSpPr txBox="true"/>
          <p:nvPr/>
        </p:nvSpPr>
        <p:spPr>
          <a:xfrm rot="0">
            <a:off x="1310640" y="9413557"/>
            <a:ext cx="3779520" cy="266700"/>
          </a:xfrm>
          <a:prstGeom prst="rect">
            <a:avLst/>
          </a:prstGeom>
        </p:spPr>
        <p:txBody>
          <a:bodyPr anchor="t" rtlCol="false" tIns="0" lIns="0" bIns="0" rIns="0">
            <a:spAutoFit/>
          </a:bodyPr>
          <a:lstStyle/>
          <a:p>
            <a:pPr algn="l">
              <a:lnSpc>
                <a:spcPts val="2160"/>
              </a:lnSpc>
            </a:pPr>
            <a:r>
              <a:rPr lang="en-US" sz="1800">
                <a:solidFill>
                  <a:srgbClr val="000000"/>
                </a:solidFill>
                <a:latin typeface="Verdana Pro"/>
                <a:ea typeface="Verdana Pro"/>
                <a:cs typeface="Verdana Pro"/>
                <a:sym typeface="Verdana Pro"/>
              </a:rPr>
              <a:t>Second</a:t>
            </a:r>
            <a:r>
              <a:rPr lang="en-US" sz="1800">
                <a:solidFill>
                  <a:srgbClr val="000000"/>
                </a:solidFill>
                <a:latin typeface="Verdana Pro"/>
                <a:ea typeface="Verdana Pro"/>
                <a:cs typeface="Verdana Pro"/>
                <a:sym typeface="Verdana Pro"/>
              </a:rPr>
              <a:t> Review</a:t>
            </a:r>
          </a:p>
        </p:txBody>
      </p:sp>
      <p:sp>
        <p:nvSpPr>
          <p:cNvPr name="TextBox 15" id="15"/>
          <p:cNvSpPr txBox="true"/>
          <p:nvPr/>
        </p:nvSpPr>
        <p:spPr>
          <a:xfrm rot="0">
            <a:off x="6339840" y="9413557"/>
            <a:ext cx="5608320" cy="622935"/>
          </a:xfrm>
          <a:prstGeom prst="rect">
            <a:avLst/>
          </a:prstGeom>
        </p:spPr>
        <p:txBody>
          <a:bodyPr anchor="t" rtlCol="false" tIns="0" lIns="0" bIns="0" rIns="0">
            <a:spAutoFit/>
          </a:bodyPr>
          <a:lstStyle/>
          <a:p>
            <a:pPr algn="ctr">
              <a:lnSpc>
                <a:spcPts val="2160"/>
              </a:lnSpc>
            </a:pPr>
            <a:r>
              <a:rPr lang="en-US" sz="1800">
                <a:solidFill>
                  <a:srgbClr val="000000"/>
                </a:solidFill>
                <a:latin typeface="Verdana Pro"/>
                <a:ea typeface="Verdana Pro"/>
                <a:cs typeface="Verdana Pro"/>
                <a:sym typeface="Verdana Pro"/>
              </a:rPr>
              <a:t>Department of Computer Science and Engineering</a:t>
            </a:r>
          </a:p>
        </p:txBody>
      </p:sp>
      <p:sp>
        <p:nvSpPr>
          <p:cNvPr name="TextBox 16" id="16"/>
          <p:cNvSpPr txBox="true"/>
          <p:nvPr/>
        </p:nvSpPr>
        <p:spPr>
          <a:xfrm rot="0">
            <a:off x="13197840" y="9413557"/>
            <a:ext cx="3779520" cy="266700"/>
          </a:xfrm>
          <a:prstGeom prst="rect">
            <a:avLst/>
          </a:prstGeom>
        </p:spPr>
        <p:txBody>
          <a:bodyPr anchor="t" rtlCol="false" tIns="0" lIns="0" bIns="0" rIns="0">
            <a:spAutoFit/>
          </a:bodyPr>
          <a:lstStyle/>
          <a:p>
            <a:pPr algn="r">
              <a:lnSpc>
                <a:spcPts val="2160"/>
              </a:lnSpc>
            </a:pPr>
            <a:r>
              <a:rPr lang="en-US" sz="1800">
                <a:solidFill>
                  <a:srgbClr val="000000"/>
                </a:solidFill>
                <a:latin typeface="Verdana Pro"/>
                <a:ea typeface="Verdana Pro"/>
                <a:cs typeface="Verdana Pro"/>
                <a:sym typeface="Verdana Pro"/>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212056" y="2343152"/>
            <a:ext cx="15930564" cy="178593"/>
            <a:chOff x="0" y="0"/>
            <a:chExt cx="21240752" cy="238124"/>
          </a:xfrm>
        </p:grpSpPr>
        <p:sp>
          <p:nvSpPr>
            <p:cNvPr name="Freeform 4" id="4"/>
            <p:cNvSpPr/>
            <p:nvPr/>
          </p:nvSpPr>
          <p:spPr>
            <a:xfrm flipH="false" flipV="false" rot="0">
              <a:off x="9525" y="9525"/>
              <a:ext cx="12414758" cy="219075"/>
            </a:xfrm>
            <a:custGeom>
              <a:avLst/>
              <a:gdLst/>
              <a:ahLst/>
              <a:cxnLst/>
              <a:rect r="r" b="b" t="t" l="l"/>
              <a:pathLst>
                <a:path h="219075" w="12414758">
                  <a:moveTo>
                    <a:pt x="0" y="0"/>
                  </a:moveTo>
                  <a:lnTo>
                    <a:pt x="12414758" y="0"/>
                  </a:lnTo>
                  <a:lnTo>
                    <a:pt x="12414758" y="219075"/>
                  </a:lnTo>
                  <a:lnTo>
                    <a:pt x="0" y="219075"/>
                  </a:lnTo>
                  <a:lnTo>
                    <a:pt x="0" y="0"/>
                  </a:lnTo>
                  <a:close/>
                </a:path>
              </a:pathLst>
            </a:custGeom>
            <a:solidFill>
              <a:srgbClr val="CC0000"/>
            </a:solidFill>
          </p:spPr>
        </p:sp>
        <p:sp>
          <p:nvSpPr>
            <p:cNvPr name="Freeform 5" id="5"/>
            <p:cNvSpPr/>
            <p:nvPr/>
          </p:nvSpPr>
          <p:spPr>
            <a:xfrm flipH="false" flipV="false" rot="0">
              <a:off x="9525" y="9525"/>
              <a:ext cx="21221700" cy="0"/>
            </a:xfrm>
            <a:custGeom>
              <a:avLst/>
              <a:gdLst/>
              <a:ahLst/>
              <a:cxnLst/>
              <a:rect r="r" b="b" t="t" l="l"/>
              <a:pathLst>
                <a:path h="0" w="21221700">
                  <a:moveTo>
                    <a:pt x="0" y="0"/>
                  </a:moveTo>
                  <a:lnTo>
                    <a:pt x="21221700" y="0"/>
                  </a:lnTo>
                </a:path>
              </a:pathLst>
            </a:custGeom>
            <a:solidFill>
              <a:srgbClr val="CC0000"/>
            </a:solidFill>
          </p:spPr>
        </p:sp>
        <p:sp>
          <p:nvSpPr>
            <p:cNvPr name="Freeform 6" id="6"/>
            <p:cNvSpPr/>
            <p:nvPr/>
          </p:nvSpPr>
          <p:spPr>
            <a:xfrm flipH="false" flipV="false" rot="0">
              <a:off x="0" y="0"/>
              <a:ext cx="12433808" cy="238125"/>
            </a:xfrm>
            <a:custGeom>
              <a:avLst/>
              <a:gdLst/>
              <a:ahLst/>
              <a:cxnLst/>
              <a:rect r="r" b="b" t="t" l="l"/>
              <a:pathLst>
                <a:path h="238125" w="12433808">
                  <a:moveTo>
                    <a:pt x="9525" y="0"/>
                  </a:moveTo>
                  <a:lnTo>
                    <a:pt x="12424283" y="0"/>
                  </a:lnTo>
                  <a:cubicBezTo>
                    <a:pt x="12429489" y="0"/>
                    <a:pt x="12433808" y="4318"/>
                    <a:pt x="12433808" y="9525"/>
                  </a:cubicBezTo>
                  <a:lnTo>
                    <a:pt x="12433808" y="228600"/>
                  </a:lnTo>
                  <a:cubicBezTo>
                    <a:pt x="12433808" y="233807"/>
                    <a:pt x="12429489" y="238125"/>
                    <a:pt x="12424283"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424283" y="219075"/>
                  </a:lnTo>
                  <a:lnTo>
                    <a:pt x="12424283" y="228600"/>
                  </a:lnTo>
                  <a:lnTo>
                    <a:pt x="12414758" y="228600"/>
                  </a:lnTo>
                  <a:lnTo>
                    <a:pt x="12414758" y="9525"/>
                  </a:lnTo>
                  <a:lnTo>
                    <a:pt x="12424283" y="9525"/>
                  </a:lnTo>
                  <a:lnTo>
                    <a:pt x="12424283" y="19050"/>
                  </a:lnTo>
                  <a:lnTo>
                    <a:pt x="9525" y="19050"/>
                  </a:lnTo>
                  <a:close/>
                </a:path>
              </a:pathLst>
            </a:custGeom>
            <a:solidFill>
              <a:srgbClr val="CC0000"/>
            </a:solidFill>
          </p:spPr>
        </p:sp>
        <p:sp>
          <p:nvSpPr>
            <p:cNvPr name="Freeform 7" id="7"/>
            <p:cNvSpPr/>
            <p:nvPr/>
          </p:nvSpPr>
          <p:spPr>
            <a:xfrm flipH="false" flipV="false" rot="0">
              <a:off x="9525" y="0"/>
              <a:ext cx="21221700" cy="19050"/>
            </a:xfrm>
            <a:custGeom>
              <a:avLst/>
              <a:gdLst/>
              <a:ahLst/>
              <a:cxnLst/>
              <a:rect r="r" b="b" t="t" l="l"/>
              <a:pathLst>
                <a:path h="19050" w="21221700">
                  <a:moveTo>
                    <a:pt x="0" y="0"/>
                  </a:moveTo>
                  <a:lnTo>
                    <a:pt x="21221700" y="0"/>
                  </a:lnTo>
                  <a:lnTo>
                    <a:pt x="21221700" y="19050"/>
                  </a:lnTo>
                  <a:lnTo>
                    <a:pt x="0" y="19050"/>
                  </a:lnTo>
                  <a:close/>
                </a:path>
              </a:pathLst>
            </a:custGeom>
            <a:solidFill>
              <a:srgbClr val="CC0000"/>
            </a:solidFill>
          </p:spPr>
        </p:sp>
      </p:grpSp>
      <p:grpSp>
        <p:nvGrpSpPr>
          <p:cNvPr name="Group 8" id="8"/>
          <p:cNvGrpSpPr/>
          <p:nvPr/>
        </p:nvGrpSpPr>
        <p:grpSpPr>
          <a:xfrm rot="0">
            <a:off x="1216819" y="9255919"/>
            <a:ext cx="15854362" cy="4762"/>
            <a:chOff x="0" y="0"/>
            <a:chExt cx="21139150" cy="6350"/>
          </a:xfrm>
        </p:grpSpPr>
        <p:sp>
          <p:nvSpPr>
            <p:cNvPr name="Freeform 9" id="9"/>
            <p:cNvSpPr/>
            <p:nvPr/>
          </p:nvSpPr>
          <p:spPr>
            <a:xfrm flipH="false" flipV="false" rot="0">
              <a:off x="3175" y="0"/>
              <a:ext cx="21132800" cy="6350"/>
            </a:xfrm>
            <a:custGeom>
              <a:avLst/>
              <a:gdLst/>
              <a:ahLst/>
              <a:cxnLst/>
              <a:rect r="r" b="b" t="t" l="l"/>
              <a:pathLst>
                <a:path h="6350" w="21132800">
                  <a:moveTo>
                    <a:pt x="0" y="0"/>
                  </a:moveTo>
                  <a:lnTo>
                    <a:pt x="21132800" y="0"/>
                  </a:lnTo>
                  <a:lnTo>
                    <a:pt x="21132800" y="6350"/>
                  </a:lnTo>
                  <a:lnTo>
                    <a:pt x="0" y="6350"/>
                  </a:lnTo>
                  <a:close/>
                </a:path>
              </a:pathLst>
            </a:custGeom>
            <a:solidFill>
              <a:srgbClr val="CC0000"/>
            </a:solidFill>
          </p:spPr>
        </p:sp>
      </p:grpSp>
      <p:grpSp>
        <p:nvGrpSpPr>
          <p:cNvPr name="Group 10" id="10"/>
          <p:cNvGrpSpPr/>
          <p:nvPr/>
        </p:nvGrpSpPr>
        <p:grpSpPr>
          <a:xfrm rot="0">
            <a:off x="1149350" y="457202"/>
            <a:ext cx="16002000" cy="1824038"/>
            <a:chOff x="0" y="0"/>
            <a:chExt cx="21336000" cy="2432050"/>
          </a:xfrm>
        </p:grpSpPr>
        <p:sp>
          <p:nvSpPr>
            <p:cNvPr name="Freeform 11" id="11"/>
            <p:cNvSpPr/>
            <p:nvPr/>
          </p:nvSpPr>
          <p:spPr>
            <a:xfrm flipH="false" flipV="false" rot="0">
              <a:off x="0" y="0"/>
              <a:ext cx="21336000" cy="2432050"/>
            </a:xfrm>
            <a:custGeom>
              <a:avLst/>
              <a:gdLst/>
              <a:ahLst/>
              <a:cxnLst/>
              <a:rect r="r" b="b" t="t" l="l"/>
              <a:pathLst>
                <a:path h="2432050" w="21336000">
                  <a:moveTo>
                    <a:pt x="0" y="0"/>
                  </a:moveTo>
                  <a:lnTo>
                    <a:pt x="21336000" y="0"/>
                  </a:lnTo>
                  <a:lnTo>
                    <a:pt x="21336000" y="2432050"/>
                  </a:lnTo>
                  <a:lnTo>
                    <a:pt x="0" y="2432050"/>
                  </a:lnTo>
                  <a:close/>
                </a:path>
              </a:pathLst>
            </a:custGeom>
            <a:solidFill>
              <a:srgbClr val="000000">
                <a:alpha val="0"/>
              </a:srgbClr>
            </a:solidFill>
          </p:spPr>
        </p:sp>
        <p:sp>
          <p:nvSpPr>
            <p:cNvPr name="TextBox 12" id="12"/>
            <p:cNvSpPr txBox="true"/>
            <p:nvPr/>
          </p:nvSpPr>
          <p:spPr>
            <a:xfrm>
              <a:off x="0" y="-95250"/>
              <a:ext cx="21336000" cy="2527300"/>
            </a:xfrm>
            <a:prstGeom prst="rect">
              <a:avLst/>
            </a:prstGeom>
          </p:spPr>
          <p:txBody>
            <a:bodyPr anchor="b" rtlCol="false" tIns="0" lIns="0" bIns="0" rIns="0"/>
            <a:lstStyle/>
            <a:p>
              <a:pPr algn="ctr">
                <a:lnSpc>
                  <a:spcPts val="5759"/>
                </a:lnSpc>
              </a:pPr>
              <a:r>
                <a:rPr lang="en-US" sz="4800" b="true">
                  <a:solidFill>
                    <a:srgbClr val="FF0000"/>
                  </a:solidFill>
                  <a:latin typeface="Times New Roman MT Bold"/>
                  <a:ea typeface="Times New Roman MT Bold"/>
                  <a:cs typeface="Times New Roman MT Bold"/>
                  <a:sym typeface="Times New Roman MT Bold"/>
                </a:rPr>
                <a:t>LITERATURE SURVEY </a:t>
              </a:r>
            </a:p>
          </p:txBody>
        </p:sp>
      </p:grpSp>
      <p:sp>
        <p:nvSpPr>
          <p:cNvPr name="TextBox 13" id="13"/>
          <p:cNvSpPr txBox="true"/>
          <p:nvPr/>
        </p:nvSpPr>
        <p:spPr>
          <a:xfrm rot="0">
            <a:off x="1310640" y="9413557"/>
            <a:ext cx="3779520" cy="266700"/>
          </a:xfrm>
          <a:prstGeom prst="rect">
            <a:avLst/>
          </a:prstGeom>
        </p:spPr>
        <p:txBody>
          <a:bodyPr anchor="t" rtlCol="false" tIns="0" lIns="0" bIns="0" rIns="0">
            <a:spAutoFit/>
          </a:bodyPr>
          <a:lstStyle/>
          <a:p>
            <a:pPr algn="l">
              <a:lnSpc>
                <a:spcPts val="2160"/>
              </a:lnSpc>
            </a:pPr>
            <a:r>
              <a:rPr lang="en-US" sz="1800">
                <a:solidFill>
                  <a:srgbClr val="000000"/>
                </a:solidFill>
                <a:latin typeface="Verdana Pro"/>
                <a:ea typeface="Verdana Pro"/>
                <a:cs typeface="Verdana Pro"/>
                <a:sym typeface="Verdana Pro"/>
              </a:rPr>
              <a:t>Second</a:t>
            </a:r>
            <a:r>
              <a:rPr lang="en-US" sz="1800">
                <a:solidFill>
                  <a:srgbClr val="000000"/>
                </a:solidFill>
                <a:latin typeface="Verdana Pro"/>
                <a:ea typeface="Verdana Pro"/>
                <a:cs typeface="Verdana Pro"/>
                <a:sym typeface="Verdana Pro"/>
              </a:rPr>
              <a:t> Review</a:t>
            </a:r>
          </a:p>
        </p:txBody>
      </p:sp>
      <p:sp>
        <p:nvSpPr>
          <p:cNvPr name="TextBox 14" id="14"/>
          <p:cNvSpPr txBox="true"/>
          <p:nvPr/>
        </p:nvSpPr>
        <p:spPr>
          <a:xfrm rot="0">
            <a:off x="6339840" y="9413557"/>
            <a:ext cx="5608320" cy="622935"/>
          </a:xfrm>
          <a:prstGeom prst="rect">
            <a:avLst/>
          </a:prstGeom>
        </p:spPr>
        <p:txBody>
          <a:bodyPr anchor="t" rtlCol="false" tIns="0" lIns="0" bIns="0" rIns="0">
            <a:spAutoFit/>
          </a:bodyPr>
          <a:lstStyle/>
          <a:p>
            <a:pPr algn="ctr">
              <a:lnSpc>
                <a:spcPts val="2160"/>
              </a:lnSpc>
            </a:pPr>
            <a:r>
              <a:rPr lang="en-US" sz="1800">
                <a:solidFill>
                  <a:srgbClr val="000000"/>
                </a:solidFill>
                <a:latin typeface="Verdana Pro"/>
                <a:ea typeface="Verdana Pro"/>
                <a:cs typeface="Verdana Pro"/>
                <a:sym typeface="Verdana Pro"/>
              </a:rPr>
              <a:t>Department of Computer Science and Engineering</a:t>
            </a:r>
          </a:p>
        </p:txBody>
      </p:sp>
      <p:sp>
        <p:nvSpPr>
          <p:cNvPr name="TextBox 15" id="15"/>
          <p:cNvSpPr txBox="true"/>
          <p:nvPr/>
        </p:nvSpPr>
        <p:spPr>
          <a:xfrm rot="0">
            <a:off x="13197840" y="9413557"/>
            <a:ext cx="3779520" cy="266700"/>
          </a:xfrm>
          <a:prstGeom prst="rect">
            <a:avLst/>
          </a:prstGeom>
        </p:spPr>
        <p:txBody>
          <a:bodyPr anchor="t" rtlCol="false" tIns="0" lIns="0" bIns="0" rIns="0">
            <a:spAutoFit/>
          </a:bodyPr>
          <a:lstStyle/>
          <a:p>
            <a:pPr algn="r">
              <a:lnSpc>
                <a:spcPts val="2160"/>
              </a:lnSpc>
            </a:pPr>
            <a:r>
              <a:rPr lang="en-US" sz="1800">
                <a:solidFill>
                  <a:srgbClr val="000000"/>
                </a:solidFill>
                <a:latin typeface="Verdana Pro"/>
                <a:ea typeface="Verdana Pro"/>
                <a:cs typeface="Verdana Pro"/>
                <a:sym typeface="Verdana Pro"/>
              </a:rPr>
              <a:t>10</a:t>
            </a:r>
          </a:p>
        </p:txBody>
      </p:sp>
      <p:graphicFrame>
        <p:nvGraphicFramePr>
          <p:cNvPr name="Table 16" id="16"/>
          <p:cNvGraphicFramePr>
            <a:graphicFrameLocks noGrp="true"/>
          </p:cNvGraphicFramePr>
          <p:nvPr/>
        </p:nvGraphicFramePr>
        <p:xfrm>
          <a:off x="1558774" y="2757394"/>
          <a:ext cx="15237128" cy="6337121"/>
        </p:xfrm>
        <a:graphic>
          <a:graphicData uri="http://schemas.openxmlformats.org/drawingml/2006/table">
            <a:tbl>
              <a:tblPr/>
              <a:tblGrid>
                <a:gridCol w="3236556"/>
                <a:gridCol w="3519159"/>
                <a:gridCol w="4473428"/>
                <a:gridCol w="4007985"/>
              </a:tblGrid>
              <a:tr h="1124795">
                <a:tc>
                  <a:txBody>
                    <a:bodyPr anchor="t" rtlCol="false"/>
                    <a:lstStyle/>
                    <a:p>
                      <a:pPr algn="ctr">
                        <a:lnSpc>
                          <a:spcPts val="3240"/>
                        </a:lnSpc>
                        <a:defRPr/>
                      </a:pPr>
                      <a:r>
                        <a:rPr lang="en-US" sz="2700" b="true">
                          <a:solidFill>
                            <a:srgbClr val="FFFFFF"/>
                          </a:solidFill>
                          <a:latin typeface="Verdana Pro Bold"/>
                          <a:ea typeface="Verdana Pro Bold"/>
                          <a:cs typeface="Verdana Pro Bold"/>
                          <a:sym typeface="Verdana Pro Bold"/>
                        </a:rPr>
                        <a:t>Author(s) / Year</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3B2C1"/>
                    </a:solidFill>
                  </a:tcPr>
                </a:tc>
                <a:tc>
                  <a:txBody>
                    <a:bodyPr anchor="t" rtlCol="false"/>
                    <a:lstStyle/>
                    <a:p>
                      <a:pPr algn="ctr">
                        <a:lnSpc>
                          <a:spcPts val="3240"/>
                        </a:lnSpc>
                        <a:defRPr/>
                      </a:pPr>
                      <a:r>
                        <a:rPr lang="en-US" sz="2700" b="true">
                          <a:solidFill>
                            <a:srgbClr val="FFFFFF"/>
                          </a:solidFill>
                          <a:latin typeface="Verdana Pro Bold"/>
                          <a:ea typeface="Verdana Pro Bold"/>
                          <a:cs typeface="Verdana Pro Bold"/>
                          <a:sym typeface="Verdana Pro Bold"/>
                        </a:rPr>
                        <a:t>Title of the Paper</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3B2C1"/>
                    </a:solidFill>
                  </a:tcPr>
                </a:tc>
                <a:tc>
                  <a:txBody>
                    <a:bodyPr anchor="t" rtlCol="false"/>
                    <a:lstStyle/>
                    <a:p>
                      <a:pPr algn="ctr">
                        <a:lnSpc>
                          <a:spcPts val="3240"/>
                        </a:lnSpc>
                        <a:defRPr/>
                      </a:pPr>
                      <a:r>
                        <a:rPr lang="en-US" sz="2700" b="true">
                          <a:solidFill>
                            <a:srgbClr val="FFFFFF"/>
                          </a:solidFill>
                          <a:latin typeface="Verdana Pro Bold"/>
                          <a:ea typeface="Verdana Pro Bold"/>
                          <a:cs typeface="Verdana Pro Bold"/>
                          <a:sym typeface="Verdana Pro Bold"/>
                        </a:rPr>
                        <a:t>Methodology / Approach</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3B2C1"/>
                    </a:solidFill>
                  </a:tcPr>
                </a:tc>
                <a:tc>
                  <a:txBody>
                    <a:bodyPr anchor="t" rtlCol="false"/>
                    <a:lstStyle/>
                    <a:p>
                      <a:pPr algn="ctr">
                        <a:lnSpc>
                          <a:spcPts val="3240"/>
                        </a:lnSpc>
                        <a:defRPr/>
                      </a:pPr>
                      <a:r>
                        <a:rPr lang="en-US" sz="2700" b="true">
                          <a:solidFill>
                            <a:srgbClr val="FFFFFF"/>
                          </a:solidFill>
                          <a:latin typeface="Verdana Pro Bold"/>
                          <a:ea typeface="Verdana Pro Bold"/>
                          <a:cs typeface="Verdana Pro Bold"/>
                          <a:sym typeface="Verdana Pro Bold"/>
                        </a:rPr>
                        <a:t>Inference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A3B2C1"/>
                    </a:solidFill>
                  </a:tcPr>
                </a:tc>
              </a:tr>
              <a:tr h="1389406">
                <a:tc>
                  <a:txBody>
                    <a:bodyPr anchor="t" rtlCol="false"/>
                    <a:lstStyle/>
                    <a:p>
                      <a:pPr algn="l">
                        <a:lnSpc>
                          <a:spcPts val="1680"/>
                        </a:lnSpc>
                        <a:defRPr/>
                      </a:pPr>
                      <a:r>
                        <a:rPr lang="en-US" sz="1200">
                          <a:solidFill>
                            <a:srgbClr val="000000"/>
                          </a:solidFill>
                          <a:latin typeface="Times New Roman MT"/>
                          <a:ea typeface="Times New Roman MT"/>
                          <a:cs typeface="Times New Roman MT"/>
                          <a:sym typeface="Times New Roman MT"/>
                        </a:rPr>
                        <a:t>International Journal of Advance Scientific Research &amp; Engineering Trends / 2020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l">
                        <a:lnSpc>
                          <a:spcPts val="1680"/>
                        </a:lnSpc>
                        <a:defRPr/>
                      </a:pPr>
                      <a:r>
                        <a:rPr lang="en-US" sz="1200">
                          <a:solidFill>
                            <a:srgbClr val="000000"/>
                          </a:solidFill>
                          <a:latin typeface="Arimo"/>
                          <a:ea typeface="Arimo"/>
                          <a:cs typeface="Arimo"/>
                          <a:sym typeface="Arimo"/>
                        </a:rPr>
                        <a:t>Arduino Based Fire Detection and Control System</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80"/>
                        </a:lnSpc>
                        <a:defRPr/>
                      </a:pPr>
                      <a:r>
                        <a:rPr lang="en-US" sz="1200">
                          <a:solidFill>
                            <a:srgbClr val="000000"/>
                          </a:solidFill>
                          <a:latin typeface="Arimo"/>
                          <a:ea typeface="Arimo"/>
                          <a:cs typeface="Arimo"/>
                          <a:sym typeface="Arimo"/>
                        </a:rPr>
                        <a:t>Automatic fire detection using heat sensors in environments,</a:t>
                      </a:r>
                      <a:endParaRPr lang="en-US" sz="1100"/>
                    </a:p>
                    <a:p>
                      <a:pPr algn="just">
                        <a:lnSpc>
                          <a:spcPts val="1680"/>
                        </a:lnSpc>
                      </a:pPr>
                      <a:r>
                        <a:rPr lang="en-US" sz="1200">
                          <a:solidFill>
                            <a:srgbClr val="000000"/>
                          </a:solidFill>
                          <a:latin typeface="Arimo"/>
                          <a:ea typeface="Arimo"/>
                          <a:cs typeface="Arimo"/>
                          <a:sym typeface="Arimo"/>
                        </a:rPr>
                        <a:t>sound alarms, mains power switch-off, water spraying system. Uses Arduino microcontroller with environmental sensors and voltage monitoring for fire control.</a:t>
                      </a:r>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Arduino-driven multi-sensor fire detection with heat sensors, sounding alarms and activating water sprinklers. Focused on fire prevention in buildings without IoT connectivity or predictive analytics.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r>
              <a:tr h="1277310">
                <a:tc>
                  <a:txBody>
                    <a:bodyPr anchor="t" rtlCol="false"/>
                    <a:lstStyle/>
                    <a:p>
                      <a:pPr algn="l">
                        <a:lnSpc>
                          <a:spcPts val="1679"/>
                        </a:lnSpc>
                        <a:defRPr/>
                      </a:pPr>
                      <a:r>
                        <a:rPr lang="en-US" sz="1200">
                          <a:solidFill>
                            <a:srgbClr val="000000"/>
                          </a:solidFill>
                          <a:latin typeface="Arimo"/>
                          <a:ea typeface="Arimo"/>
                          <a:cs typeface="Arimo"/>
                          <a:sym typeface="Arimo"/>
                        </a:rPr>
                        <a:t>International Journal of Information Technology / 2025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l">
                        <a:lnSpc>
                          <a:spcPts val="1679"/>
                        </a:lnSpc>
                        <a:defRPr/>
                      </a:pPr>
                      <a:r>
                        <a:rPr lang="en-US" sz="1200">
                          <a:solidFill>
                            <a:srgbClr val="000000"/>
                          </a:solidFill>
                          <a:latin typeface="Arimo"/>
                          <a:ea typeface="Arimo"/>
                          <a:cs typeface="Arimo"/>
                          <a:sym typeface="Arimo"/>
                        </a:rPr>
                        <a:t>ExAIRFC-GSDC: An Advanced Machine LearningBased Gas Detection System</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Integrates Random Forest Classifier with explainable AI techniques, achieves 98.67% accuracy, handles LPG, CNG, Methane, Propane detection. Uses SHAP and LIME explanations for model interpretability in complex environments.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Random Forest classifier with explainable AI for multigas detection including LPG, with excellent accuracy (98.67%). Incorporates model interpretability but targets complex industrial environments.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r>
              <a:tr h="1268299">
                <a:tc>
                  <a:txBody>
                    <a:bodyPr anchor="t" rtlCol="false"/>
                    <a:lstStyle/>
                    <a:p>
                      <a:pPr algn="l">
                        <a:lnSpc>
                          <a:spcPts val="1679"/>
                        </a:lnSpc>
                        <a:defRPr/>
                      </a:pPr>
                      <a:r>
                        <a:rPr lang="en-US" sz="1200">
                          <a:solidFill>
                            <a:srgbClr val="000000"/>
                          </a:solidFill>
                          <a:latin typeface="Arimo"/>
                          <a:ea typeface="Arimo"/>
                          <a:cs typeface="Arimo"/>
                          <a:sym typeface="Arimo"/>
                        </a:rPr>
                        <a:t>International Journal of Innovative Research in Science, Engineering and Technology /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l">
                        <a:lnSpc>
                          <a:spcPts val="1679"/>
                        </a:lnSpc>
                        <a:defRPr/>
                      </a:pPr>
                      <a:r>
                        <a:rPr lang="en-US" sz="1200">
                          <a:solidFill>
                            <a:srgbClr val="000000"/>
                          </a:solidFill>
                          <a:latin typeface="Arimo"/>
                          <a:ea typeface="Arimo"/>
                          <a:cs typeface="Arimo"/>
                          <a:sym typeface="Arimo"/>
                        </a:rPr>
                        <a:t>IoT Based Gas Detection System</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Uses MQ2 gas sensor with NodeMCU WiFi module, ThingSpeak cloud platform for data visualization, SIM800C for SMS alerts, buzzer alarms. Real-time monitoring with 20-25 seconds cloud update intervals.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Utilizes MQ2 sensor, NodeMCU Wi-Fi, and ThingSpeak cloud for visualization and SMS alerts. Real-time cloud monitoring is demonstrated but lacks local predictive analytics and multi-sensor data fusion.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0E4E9"/>
                    </a:solidFill>
                  </a:tcPr>
                </a:tc>
              </a:tr>
              <a:tr h="1277310">
                <a:tc>
                  <a:txBody>
                    <a:bodyPr anchor="t" rtlCol="false"/>
                    <a:lstStyle/>
                    <a:p>
                      <a:pPr algn="l">
                        <a:lnSpc>
                          <a:spcPts val="1679"/>
                        </a:lnSpc>
                        <a:defRPr/>
                      </a:pPr>
                      <a:r>
                        <a:rPr lang="en-US" sz="1200">
                          <a:solidFill>
                            <a:srgbClr val="000000"/>
                          </a:solidFill>
                          <a:latin typeface="Arimo"/>
                          <a:ea typeface="Arimo"/>
                          <a:cs typeface="Arimo"/>
                          <a:sym typeface="Arimo"/>
                        </a:rPr>
                        <a:t>International Journal of Electrical and Computer Engineering / 2024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F2F4"/>
                    </a:solidFill>
                  </a:tcPr>
                </a:tc>
                <a:tc>
                  <a:txBody>
                    <a:bodyPr anchor="t" rtlCol="false"/>
                    <a:lstStyle/>
                    <a:p>
                      <a:pPr algn="l">
                        <a:lnSpc>
                          <a:spcPts val="1679"/>
                        </a:lnSpc>
                        <a:defRPr/>
                      </a:pPr>
                      <a:r>
                        <a:rPr lang="en-US" sz="1200">
                          <a:solidFill>
                            <a:srgbClr val="000000"/>
                          </a:solidFill>
                          <a:latin typeface="Arimo"/>
                          <a:ea typeface="Arimo"/>
                          <a:cs typeface="Arimo"/>
                          <a:sym typeface="Arimo"/>
                        </a:rPr>
                        <a:t>Predicting and Detecting Fires on Multispectral Images Using Machine Learning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F2F4"/>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Uses Arduino UNO, DHT11 sensor, ESP8266 WiFi module,</a:t>
                      </a:r>
                      <a:endParaRPr lang="en-US" sz="1100"/>
                    </a:p>
                    <a:p>
                      <a:pPr algn="just">
                        <a:lnSpc>
                          <a:spcPts val="1679"/>
                        </a:lnSpc>
                      </a:pPr>
                      <a:r>
                        <a:rPr lang="en-US" sz="1200">
                          <a:solidFill>
                            <a:srgbClr val="000000"/>
                          </a:solidFill>
                          <a:latin typeface="Arimo"/>
                          <a:ea typeface="Arimo"/>
                          <a:cs typeface="Arimo"/>
                          <a:sym typeface="Arimo"/>
                        </a:rPr>
                        <a:t>ThingSpeak cloud service, Android application for data access. Real-time monitoring of temperature and humidity with cloud storage and a mobile app interface.</a:t>
                      </a:r>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F2F4"/>
                    </a:solidFill>
                  </a:tcPr>
                </a:tc>
                <a:tc>
                  <a:txBody>
                    <a:bodyPr anchor="t" rtlCol="false"/>
                    <a:lstStyle/>
                    <a:p>
                      <a:pPr algn="just">
                        <a:lnSpc>
                          <a:spcPts val="1679"/>
                        </a:lnSpc>
                        <a:defRPr/>
                      </a:pPr>
                      <a:r>
                        <a:rPr lang="en-US" sz="1200">
                          <a:solidFill>
                            <a:srgbClr val="000000"/>
                          </a:solidFill>
                          <a:latin typeface="Arimo"/>
                          <a:ea typeface="Arimo"/>
                          <a:cs typeface="Arimo"/>
                          <a:sym typeface="Arimo"/>
                        </a:rPr>
                        <a:t>Combines gradient boosting, logistic regression, and CNN for automated fire detection from multispectral images, enhancing early detection efficiency. Image-centric, less applicable directly to small IoT sensor arrays.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F2F4"/>
                    </a:solidFill>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212056" y="2343152"/>
            <a:ext cx="15930564" cy="178593"/>
            <a:chOff x="0" y="0"/>
            <a:chExt cx="21240752" cy="238124"/>
          </a:xfrm>
        </p:grpSpPr>
        <p:sp>
          <p:nvSpPr>
            <p:cNvPr name="Freeform 4" id="4"/>
            <p:cNvSpPr/>
            <p:nvPr/>
          </p:nvSpPr>
          <p:spPr>
            <a:xfrm flipH="false" flipV="false" rot="0">
              <a:off x="9525" y="9525"/>
              <a:ext cx="12414758" cy="219075"/>
            </a:xfrm>
            <a:custGeom>
              <a:avLst/>
              <a:gdLst/>
              <a:ahLst/>
              <a:cxnLst/>
              <a:rect r="r" b="b" t="t" l="l"/>
              <a:pathLst>
                <a:path h="219075" w="12414758">
                  <a:moveTo>
                    <a:pt x="0" y="0"/>
                  </a:moveTo>
                  <a:lnTo>
                    <a:pt x="12414758" y="0"/>
                  </a:lnTo>
                  <a:lnTo>
                    <a:pt x="12414758" y="219075"/>
                  </a:lnTo>
                  <a:lnTo>
                    <a:pt x="0" y="219075"/>
                  </a:lnTo>
                  <a:lnTo>
                    <a:pt x="0" y="0"/>
                  </a:lnTo>
                  <a:close/>
                </a:path>
              </a:pathLst>
            </a:custGeom>
            <a:solidFill>
              <a:srgbClr val="CC0000"/>
            </a:solidFill>
          </p:spPr>
        </p:sp>
        <p:sp>
          <p:nvSpPr>
            <p:cNvPr name="Freeform 5" id="5"/>
            <p:cNvSpPr/>
            <p:nvPr/>
          </p:nvSpPr>
          <p:spPr>
            <a:xfrm flipH="false" flipV="false" rot="0">
              <a:off x="9525" y="9525"/>
              <a:ext cx="21221700" cy="0"/>
            </a:xfrm>
            <a:custGeom>
              <a:avLst/>
              <a:gdLst/>
              <a:ahLst/>
              <a:cxnLst/>
              <a:rect r="r" b="b" t="t" l="l"/>
              <a:pathLst>
                <a:path h="0" w="21221700">
                  <a:moveTo>
                    <a:pt x="0" y="0"/>
                  </a:moveTo>
                  <a:lnTo>
                    <a:pt x="21221700" y="0"/>
                  </a:lnTo>
                </a:path>
              </a:pathLst>
            </a:custGeom>
            <a:solidFill>
              <a:srgbClr val="CC0000"/>
            </a:solidFill>
          </p:spPr>
        </p:sp>
        <p:sp>
          <p:nvSpPr>
            <p:cNvPr name="Freeform 6" id="6"/>
            <p:cNvSpPr/>
            <p:nvPr/>
          </p:nvSpPr>
          <p:spPr>
            <a:xfrm flipH="false" flipV="false" rot="0">
              <a:off x="0" y="0"/>
              <a:ext cx="12433808" cy="238125"/>
            </a:xfrm>
            <a:custGeom>
              <a:avLst/>
              <a:gdLst/>
              <a:ahLst/>
              <a:cxnLst/>
              <a:rect r="r" b="b" t="t" l="l"/>
              <a:pathLst>
                <a:path h="238125" w="12433808">
                  <a:moveTo>
                    <a:pt x="9525" y="0"/>
                  </a:moveTo>
                  <a:lnTo>
                    <a:pt x="12424283" y="0"/>
                  </a:lnTo>
                  <a:cubicBezTo>
                    <a:pt x="12429489" y="0"/>
                    <a:pt x="12433808" y="4318"/>
                    <a:pt x="12433808" y="9525"/>
                  </a:cubicBezTo>
                  <a:lnTo>
                    <a:pt x="12433808" y="228600"/>
                  </a:lnTo>
                  <a:cubicBezTo>
                    <a:pt x="12433808" y="233807"/>
                    <a:pt x="12429489" y="238125"/>
                    <a:pt x="12424283" y="238125"/>
                  </a:cubicBezTo>
                  <a:lnTo>
                    <a:pt x="9525" y="238125"/>
                  </a:lnTo>
                  <a:cubicBezTo>
                    <a:pt x="4318" y="238125"/>
                    <a:pt x="0" y="233807"/>
                    <a:pt x="0" y="228600"/>
                  </a:cubicBezTo>
                  <a:lnTo>
                    <a:pt x="0" y="9525"/>
                  </a:lnTo>
                  <a:cubicBezTo>
                    <a:pt x="0" y="4318"/>
                    <a:pt x="4318" y="0"/>
                    <a:pt x="9525" y="0"/>
                  </a:cubicBezTo>
                  <a:moveTo>
                    <a:pt x="9525" y="19050"/>
                  </a:moveTo>
                  <a:lnTo>
                    <a:pt x="9525" y="9525"/>
                  </a:lnTo>
                  <a:lnTo>
                    <a:pt x="19050" y="9525"/>
                  </a:lnTo>
                  <a:lnTo>
                    <a:pt x="19050" y="228600"/>
                  </a:lnTo>
                  <a:lnTo>
                    <a:pt x="9525" y="228600"/>
                  </a:lnTo>
                  <a:lnTo>
                    <a:pt x="9525" y="219075"/>
                  </a:lnTo>
                  <a:lnTo>
                    <a:pt x="12424283" y="219075"/>
                  </a:lnTo>
                  <a:lnTo>
                    <a:pt x="12424283" y="228600"/>
                  </a:lnTo>
                  <a:lnTo>
                    <a:pt x="12414758" y="228600"/>
                  </a:lnTo>
                  <a:lnTo>
                    <a:pt x="12414758" y="9525"/>
                  </a:lnTo>
                  <a:lnTo>
                    <a:pt x="12424283" y="9525"/>
                  </a:lnTo>
                  <a:lnTo>
                    <a:pt x="12424283" y="19050"/>
                  </a:lnTo>
                  <a:lnTo>
                    <a:pt x="9525" y="19050"/>
                  </a:lnTo>
                  <a:close/>
                </a:path>
              </a:pathLst>
            </a:custGeom>
            <a:solidFill>
              <a:srgbClr val="CC0000"/>
            </a:solidFill>
          </p:spPr>
        </p:sp>
        <p:sp>
          <p:nvSpPr>
            <p:cNvPr name="Freeform 7" id="7"/>
            <p:cNvSpPr/>
            <p:nvPr/>
          </p:nvSpPr>
          <p:spPr>
            <a:xfrm flipH="false" flipV="false" rot="0">
              <a:off x="9525" y="0"/>
              <a:ext cx="21221700" cy="19050"/>
            </a:xfrm>
            <a:custGeom>
              <a:avLst/>
              <a:gdLst/>
              <a:ahLst/>
              <a:cxnLst/>
              <a:rect r="r" b="b" t="t" l="l"/>
              <a:pathLst>
                <a:path h="19050" w="21221700">
                  <a:moveTo>
                    <a:pt x="0" y="0"/>
                  </a:moveTo>
                  <a:lnTo>
                    <a:pt x="21221700" y="0"/>
                  </a:lnTo>
                  <a:lnTo>
                    <a:pt x="21221700" y="19050"/>
                  </a:lnTo>
                  <a:lnTo>
                    <a:pt x="0" y="19050"/>
                  </a:lnTo>
                  <a:close/>
                </a:path>
              </a:pathLst>
            </a:custGeom>
            <a:solidFill>
              <a:srgbClr val="CC0000"/>
            </a:solidFill>
          </p:spPr>
        </p:sp>
      </p:grpSp>
      <p:grpSp>
        <p:nvGrpSpPr>
          <p:cNvPr name="Group 8" id="8"/>
          <p:cNvGrpSpPr/>
          <p:nvPr/>
        </p:nvGrpSpPr>
        <p:grpSpPr>
          <a:xfrm rot="0">
            <a:off x="1216819" y="9255919"/>
            <a:ext cx="15854362" cy="4762"/>
            <a:chOff x="0" y="0"/>
            <a:chExt cx="21139150" cy="6350"/>
          </a:xfrm>
        </p:grpSpPr>
        <p:sp>
          <p:nvSpPr>
            <p:cNvPr name="Freeform 9" id="9"/>
            <p:cNvSpPr/>
            <p:nvPr/>
          </p:nvSpPr>
          <p:spPr>
            <a:xfrm flipH="false" flipV="false" rot="0">
              <a:off x="3175" y="0"/>
              <a:ext cx="21132800" cy="6350"/>
            </a:xfrm>
            <a:custGeom>
              <a:avLst/>
              <a:gdLst/>
              <a:ahLst/>
              <a:cxnLst/>
              <a:rect r="r" b="b" t="t" l="l"/>
              <a:pathLst>
                <a:path h="6350" w="21132800">
                  <a:moveTo>
                    <a:pt x="0" y="0"/>
                  </a:moveTo>
                  <a:lnTo>
                    <a:pt x="21132800" y="0"/>
                  </a:lnTo>
                  <a:lnTo>
                    <a:pt x="21132800" y="6350"/>
                  </a:lnTo>
                  <a:lnTo>
                    <a:pt x="0" y="6350"/>
                  </a:lnTo>
                  <a:close/>
                </a:path>
              </a:pathLst>
            </a:custGeom>
            <a:solidFill>
              <a:srgbClr val="CC0000"/>
            </a:solidFill>
          </p:spPr>
        </p:sp>
      </p:grpSp>
      <p:grpSp>
        <p:nvGrpSpPr>
          <p:cNvPr name="Group 10" id="10"/>
          <p:cNvGrpSpPr/>
          <p:nvPr/>
        </p:nvGrpSpPr>
        <p:grpSpPr>
          <a:xfrm rot="0">
            <a:off x="1066800" y="4752111"/>
            <a:ext cx="16002000" cy="1824038"/>
            <a:chOff x="0" y="0"/>
            <a:chExt cx="21336000" cy="2432050"/>
          </a:xfrm>
        </p:grpSpPr>
        <p:sp>
          <p:nvSpPr>
            <p:cNvPr name="Freeform 11" id="11"/>
            <p:cNvSpPr/>
            <p:nvPr/>
          </p:nvSpPr>
          <p:spPr>
            <a:xfrm flipH="false" flipV="false" rot="0">
              <a:off x="0" y="0"/>
              <a:ext cx="21336000" cy="2432050"/>
            </a:xfrm>
            <a:custGeom>
              <a:avLst/>
              <a:gdLst/>
              <a:ahLst/>
              <a:cxnLst/>
              <a:rect r="r" b="b" t="t" l="l"/>
              <a:pathLst>
                <a:path h="2432050" w="21336000">
                  <a:moveTo>
                    <a:pt x="0" y="0"/>
                  </a:moveTo>
                  <a:lnTo>
                    <a:pt x="21336000" y="0"/>
                  </a:lnTo>
                  <a:lnTo>
                    <a:pt x="21336000" y="2432050"/>
                  </a:lnTo>
                  <a:lnTo>
                    <a:pt x="0" y="2432050"/>
                  </a:lnTo>
                  <a:close/>
                </a:path>
              </a:pathLst>
            </a:custGeom>
            <a:solidFill>
              <a:srgbClr val="000000">
                <a:alpha val="0"/>
              </a:srgbClr>
            </a:solidFill>
          </p:spPr>
        </p:sp>
        <p:sp>
          <p:nvSpPr>
            <p:cNvPr name="TextBox 12" id="12"/>
            <p:cNvSpPr txBox="true"/>
            <p:nvPr/>
          </p:nvSpPr>
          <p:spPr>
            <a:xfrm>
              <a:off x="0" y="0"/>
              <a:ext cx="21336000" cy="2432050"/>
            </a:xfrm>
            <a:prstGeom prst="rect">
              <a:avLst/>
            </a:prstGeom>
          </p:spPr>
          <p:txBody>
            <a:bodyPr anchor="ctr" rtlCol="false" tIns="0" lIns="0" bIns="0" rIns="0"/>
            <a:lstStyle/>
            <a:p>
              <a:pPr algn="ctr">
                <a:lnSpc>
                  <a:spcPts val="7200"/>
                </a:lnSpc>
              </a:pPr>
              <a:r>
                <a:rPr lang="en-US" sz="6000" b="true">
                  <a:solidFill>
                    <a:srgbClr val="FF0000"/>
                  </a:solidFill>
                  <a:latin typeface="Verdana Pro Bold"/>
                  <a:ea typeface="Verdana Pro Bold"/>
                  <a:cs typeface="Verdana Pro Bold"/>
                  <a:sym typeface="Verdana Pro Bold"/>
                </a:rPr>
                <a:t>Thank You</a:t>
              </a:r>
            </a:p>
          </p:txBody>
        </p:sp>
      </p:grpSp>
      <p:sp>
        <p:nvSpPr>
          <p:cNvPr name="TextBox 13" id="13"/>
          <p:cNvSpPr txBox="true"/>
          <p:nvPr/>
        </p:nvSpPr>
        <p:spPr>
          <a:xfrm rot="0">
            <a:off x="6339840" y="9413557"/>
            <a:ext cx="5608320" cy="622935"/>
          </a:xfrm>
          <a:prstGeom prst="rect">
            <a:avLst/>
          </a:prstGeom>
        </p:spPr>
        <p:txBody>
          <a:bodyPr anchor="t" rtlCol="false" tIns="0" lIns="0" bIns="0" rIns="0">
            <a:spAutoFit/>
          </a:bodyPr>
          <a:lstStyle/>
          <a:p>
            <a:pPr algn="ctr">
              <a:lnSpc>
                <a:spcPts val="2160"/>
              </a:lnSpc>
            </a:pPr>
            <a:r>
              <a:rPr lang="en-US" sz="1800">
                <a:solidFill>
                  <a:srgbClr val="000000"/>
                </a:solidFill>
                <a:latin typeface="Verdana Pro"/>
                <a:ea typeface="Verdana Pro"/>
                <a:cs typeface="Verdana Pro"/>
                <a:sym typeface="Verdana Pro"/>
              </a:rPr>
              <a:t>Department of Computer Science and Engineering</a:t>
            </a:r>
          </a:p>
        </p:txBody>
      </p:sp>
      <p:sp>
        <p:nvSpPr>
          <p:cNvPr name="TextBox 14" id="14"/>
          <p:cNvSpPr txBox="true"/>
          <p:nvPr/>
        </p:nvSpPr>
        <p:spPr>
          <a:xfrm rot="0">
            <a:off x="13197840" y="9413557"/>
            <a:ext cx="3779520" cy="266700"/>
          </a:xfrm>
          <a:prstGeom prst="rect">
            <a:avLst/>
          </a:prstGeom>
        </p:spPr>
        <p:txBody>
          <a:bodyPr anchor="t" rtlCol="false" tIns="0" lIns="0" bIns="0" rIns="0">
            <a:spAutoFit/>
          </a:bodyPr>
          <a:lstStyle/>
          <a:p>
            <a:pPr algn="r">
              <a:lnSpc>
                <a:spcPts val="2160"/>
              </a:lnSpc>
            </a:pPr>
            <a:r>
              <a:rPr lang="en-US" sz="1800">
                <a:solidFill>
                  <a:srgbClr val="000000"/>
                </a:solidFill>
                <a:latin typeface="Verdana Pro"/>
                <a:ea typeface="Verdana Pro"/>
                <a:cs typeface="Verdana Pro"/>
                <a:sym typeface="Verdana Pro"/>
              </a:rPr>
              <a:t>11</a:t>
            </a:r>
          </a:p>
        </p:txBody>
      </p:sp>
      <p:sp>
        <p:nvSpPr>
          <p:cNvPr name="TextBox 15" id="15"/>
          <p:cNvSpPr txBox="true"/>
          <p:nvPr/>
        </p:nvSpPr>
        <p:spPr>
          <a:xfrm rot="0">
            <a:off x="1310640" y="9413557"/>
            <a:ext cx="3779520" cy="266700"/>
          </a:xfrm>
          <a:prstGeom prst="rect">
            <a:avLst/>
          </a:prstGeom>
        </p:spPr>
        <p:txBody>
          <a:bodyPr anchor="t" rtlCol="false" tIns="0" lIns="0" bIns="0" rIns="0">
            <a:spAutoFit/>
          </a:bodyPr>
          <a:lstStyle/>
          <a:p>
            <a:pPr algn="l">
              <a:lnSpc>
                <a:spcPts val="2160"/>
              </a:lnSpc>
            </a:pPr>
            <a:r>
              <a:rPr lang="en-US" sz="1800">
                <a:solidFill>
                  <a:srgbClr val="000000"/>
                </a:solidFill>
                <a:latin typeface="Verdana Pro"/>
                <a:ea typeface="Verdana Pro"/>
                <a:cs typeface="Verdana Pro"/>
                <a:sym typeface="Verdana Pro"/>
              </a:rPr>
              <a:t>Second</a:t>
            </a:r>
            <a:r>
              <a:rPr lang="en-US" sz="1800">
                <a:solidFill>
                  <a:srgbClr val="000000"/>
                </a:solidFill>
                <a:latin typeface="Verdana Pro"/>
                <a:ea typeface="Verdana Pro"/>
                <a:cs typeface="Verdana Pro"/>
                <a:sym typeface="Verdana Pro"/>
              </a:rPr>
              <a:t>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DAGysFABiuI</dc:identifier>
  <dcterms:modified xsi:type="dcterms:W3CDTF">2011-08-01T06:04:30Z</dcterms:modified>
  <cp:revision>1</cp:revision>
  <dc:title>MK sentinel 1st review ppt</dc:title>
</cp:coreProperties>
</file>